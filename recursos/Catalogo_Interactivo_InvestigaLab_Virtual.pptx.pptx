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ptos Bold" charset="1" panose="020B0004020202020204"/>
      <p:regular r:id="rId24"/>
    </p:embeddedFont>
    <p:embeddedFont>
      <p:font typeface="Aptos" charset="1" panose="020B00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9.xml" Type="http://schemas.openxmlformats.org/officeDocument/2006/relationships/slide"/><Relationship Id="rId11" Target="slide11.xml" Type="http://schemas.openxmlformats.org/officeDocument/2006/relationships/slide"/><Relationship Id="rId12" Target="slide13.xml" Type="http://schemas.openxmlformats.org/officeDocument/2006/relationships/slid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slide3.xml" Type="http://schemas.openxmlformats.org/officeDocument/2006/relationships/slide"/><Relationship Id="rId6" Target="slide4.xml" Type="http://schemas.openxmlformats.org/officeDocument/2006/relationships/slide"/><Relationship Id="rId7" Target="slide5.xml" Type="http://schemas.openxmlformats.org/officeDocument/2006/relationships/slide"/><Relationship Id="rId8" Target="slide6.xml" Type="http://schemas.openxmlformats.org/officeDocument/2006/relationships/slide"/><Relationship Id="rId9" Target="slide7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miro.com/diagramming/what-is-a-fishbone-diagram/" TargetMode="External" Type="http://schemas.openxmlformats.org/officeDocument/2006/relationships/hyperlink"/><Relationship Id="rId6" Target="https://miro.com/diagramming/problem-tree-analysis/" TargetMode="External" Type="http://schemas.openxmlformats.org/officeDocument/2006/relationships/hyperlink"/><Relationship Id="rId7" Target="https://www.canva.com/graphs/timeline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www.canva.com/graphs/concept-maps/" TargetMode="External" Type="http://schemas.openxmlformats.org/officeDocument/2006/relationships/hyperlink"/><Relationship Id="rId6" Target="https://www.mindmeister.com/" TargetMode="External" Type="http://schemas.openxmlformats.org/officeDocument/2006/relationships/hyperlink"/><Relationship Id="rId7" Target="https://cmap.ihmc.us/docs/theory-of-concept-maps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scholar.google.com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docs.moodle.org/en/Forum_activity" TargetMode="External" Type="http://schemas.openxmlformats.org/officeDocument/2006/relationships/hyperlink"/><Relationship Id="rId6" Target="https://support.zoom.com/hc" TargetMode="External" Type="http://schemas.openxmlformats.org/officeDocument/2006/relationships/hyperlink"/><Relationship Id="rId7" Target="https://www.canva.com/education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www.youtube.com/" TargetMode="External" Type="http://schemas.openxmlformats.org/officeDocument/2006/relationships/hyperlink"/><Relationship Id="rId6" Target="https://prezi.com/" TargetMode="External" Type="http://schemas.openxmlformats.org/officeDocument/2006/relationships/hyperlink"/><Relationship Id="rId7" Target="https://genially.com/es/" TargetMode="External" Type="http://schemas.openxmlformats.org/officeDocument/2006/relationships/hyperlink"/><Relationship Id="rId8" Target="https://www.canva.com/presentations/" TargetMode="External" Type="http://schemas.openxmlformats.org/officeDocument/2006/relationships/hyperlink"/><Relationship Id="rId9" Target="https://support.microsoft.com/powerpoint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zoom.us/" TargetMode="External" Type="http://schemas.openxmlformats.org/officeDocument/2006/relationships/hyperlink"/><Relationship Id="rId6" Target="https://meet.google.com/" TargetMode="External" Type="http://schemas.openxmlformats.org/officeDocument/2006/relationships/hyperlink"/><Relationship Id="rId7" Target="https://www.whatsapp.com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miro.com/" TargetMode="External" Type="http://schemas.openxmlformats.org/officeDocument/2006/relationships/hyperlink"/><Relationship Id="rId6" Target="https://www.mindmeister.com/" TargetMode="External" Type="http://schemas.openxmlformats.org/officeDocument/2006/relationships/hyperlink"/><Relationship Id="rId7" Target="https://padlet.com/" TargetMode="External" Type="http://schemas.openxmlformats.org/officeDocument/2006/relationships/hyperlink"/><Relationship Id="rId8" Target="https://support.google.com/jamboard?hl=es" TargetMode="External" Type="http://schemas.openxmlformats.org/officeDocument/2006/relationships/hyperlink"/><Relationship Id="rId9" Target="https://www.lucidchart.com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trello.com/" TargetMode="External" Type="http://schemas.openxmlformats.org/officeDocument/2006/relationships/hyperlink"/><Relationship Id="rId6" Target="https://www.notion.so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quizizz.com/" TargetMode="External" Type="http://schemas.openxmlformats.org/officeDocument/2006/relationships/hyperlink"/><Relationship Id="rId6" Target="https://kahoot.com/" TargetMode="External" Type="http://schemas.openxmlformats.org/officeDocument/2006/relationships/hyperlink"/><Relationship Id="rId7" Target="https://www.mentimeter.com/" TargetMode="External" Type="http://schemas.openxmlformats.org/officeDocument/2006/relationships/hyperlink"/><Relationship Id="rId8" Target="https://wordwall.net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moodle.org/" TargetMode="External" Type="http://schemas.openxmlformats.org/officeDocument/2006/relationships/hyperlink"/><Relationship Id="rId6" Target="https://classroom.google.com/" TargetMode="External" Type="http://schemas.openxmlformats.org/officeDocument/2006/relationships/hyperlink"/><Relationship Id="rId7" Target="https://www.instructure.com/canvas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www.zotero.org/" TargetMode="External" Type="http://schemas.openxmlformats.org/officeDocument/2006/relationships/hyperlink"/><Relationship Id="rId6" Target="https://www.mendeley.com/" TargetMode="External" Type="http://schemas.openxmlformats.org/officeDocument/2006/relationships/hyperlink"/><Relationship Id="rId7" Target="https://chatgpt.com/" TargetMode="External" Type="http://schemas.openxmlformats.org/officeDocument/2006/relationships/hyperlink"/><Relationship Id="rId8" Target="https://elicit.com/" TargetMode="External" Type="http://schemas.openxmlformats.org/officeDocument/2006/relationships/hyperlink"/><Relationship Id="rId9" Target="https://scite.ai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slide2.xml" Type="http://schemas.openxmlformats.org/officeDocument/2006/relationships/slide"/><Relationship Id="rId5" Target="https://www.canva.com/" TargetMode="External" Type="http://schemas.openxmlformats.org/officeDocument/2006/relationships/hyperlink"/><Relationship Id="rId6" Target="https://genially.com/es/" TargetMode="External" Type="http://schemas.openxmlformats.org/officeDocument/2006/relationships/hyperlink"/><Relationship Id="rId7" Target="https://moodle.org/" TargetMode="External" Type="http://schemas.openxmlformats.org/officeDocument/2006/relationships/hyperlink"/><Relationship Id="rId8" Target="https://www.zotero.org/" TargetMode="External" Type="http://schemas.openxmlformats.org/officeDocument/2006/relationships/hyperlink"/><Relationship Id="rId9" Target="https://support.google.com/jamboard?hl=e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5779770" cy="10306050"/>
            <a:chOff x="0" y="0"/>
            <a:chExt cx="770636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0636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7706360">
                  <a:moveTo>
                    <a:pt x="0" y="0"/>
                  </a:moveTo>
                  <a:lnTo>
                    <a:pt x="7706360" y="0"/>
                  </a:lnTo>
                  <a:lnTo>
                    <a:pt x="770636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" y="617220"/>
            <a:ext cx="2880360" cy="438912"/>
            <a:chOff x="0" y="0"/>
            <a:chExt cx="3840480" cy="585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0480" cy="585216"/>
            </a:xfrm>
            <a:custGeom>
              <a:avLst/>
              <a:gdLst/>
              <a:ahLst/>
              <a:cxnLst/>
              <a:rect r="r" b="b" t="t" l="l"/>
              <a:pathLst>
                <a:path h="58521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840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UCV Virtual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1179576"/>
            <a:ext cx="3154680" cy="342900"/>
            <a:chOff x="0" y="0"/>
            <a:chExt cx="420624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06240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2062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E0F2FE"/>
                  </a:solidFill>
                  <a:latin typeface="Aptos"/>
                  <a:ea typeface="Aptos"/>
                  <a:cs typeface="Aptos"/>
                  <a:sym typeface="Aptos"/>
                </a:rPr>
                <a:t>Examen Parcial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15100" y="1714500"/>
            <a:ext cx="10287000" cy="1988820"/>
            <a:chOff x="0" y="0"/>
            <a:chExt cx="13716000" cy="2651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84" r="0" b="-507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716000" cy="265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INVESTIGALAB</a:t>
              </a:r>
            </a:p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VIRTUAL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83680" y="4046220"/>
            <a:ext cx="10149840" cy="987552"/>
            <a:chOff x="0" y="0"/>
            <a:chExt cx="13533120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33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5331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83680" y="5554980"/>
            <a:ext cx="2194560" cy="411480"/>
            <a:chOff x="0" y="0"/>
            <a:chExt cx="292608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9260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Integrantes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74155" y="6135243"/>
            <a:ext cx="7562850" cy="485394"/>
            <a:chOff x="0" y="0"/>
            <a:chExt cx="10083800" cy="6471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83800" cy="647192"/>
            </a:xfrm>
            <a:custGeom>
              <a:avLst/>
              <a:gdLst/>
              <a:ahLst/>
              <a:cxnLst/>
              <a:rect r="r" b="b" t="t" l="l"/>
              <a:pathLst>
                <a:path h="647192" w="1008380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9969627" y="0"/>
                  </a:lnTo>
                  <a:cubicBezTo>
                    <a:pt x="10032619" y="0"/>
                    <a:pt x="10083800" y="51181"/>
                    <a:pt x="10083800" y="114173"/>
                  </a:cubicBezTo>
                  <a:lnTo>
                    <a:pt x="10083800" y="533019"/>
                  </a:lnTo>
                  <a:cubicBezTo>
                    <a:pt x="10083800" y="596138"/>
                    <a:pt x="10032619" y="647192"/>
                    <a:pt x="9969627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6240780"/>
            <a:ext cx="6995160" cy="246888"/>
            <a:chOff x="0" y="0"/>
            <a:chExt cx="9326880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Khunji Marilyn Alarcón Jiménez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74155" y="6752463"/>
            <a:ext cx="7562850" cy="485394"/>
            <a:chOff x="0" y="0"/>
            <a:chExt cx="10083800" cy="6471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83800" cy="647192"/>
            </a:xfrm>
            <a:custGeom>
              <a:avLst/>
              <a:gdLst/>
              <a:ahLst/>
              <a:cxnLst/>
              <a:rect r="r" b="b" t="t" l="l"/>
              <a:pathLst>
                <a:path h="647192" w="1008380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9969627" y="0"/>
                  </a:lnTo>
                  <a:cubicBezTo>
                    <a:pt x="10032619" y="0"/>
                    <a:pt x="10083800" y="51181"/>
                    <a:pt x="10083800" y="114173"/>
                  </a:cubicBezTo>
                  <a:lnTo>
                    <a:pt x="10083800" y="533019"/>
                  </a:lnTo>
                  <a:cubicBezTo>
                    <a:pt x="10083800" y="596138"/>
                    <a:pt x="10032619" y="647192"/>
                    <a:pt x="9969627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ECFDF5"/>
            </a:solidFill>
            <a:ln w="19050" cap="sq">
              <a:solidFill>
                <a:srgbClr val="A7F3D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58000" y="6783852"/>
            <a:ext cx="6995160" cy="321036"/>
            <a:chOff x="0" y="0"/>
            <a:chExt cx="9326880" cy="4280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6880" cy="428048"/>
            </a:xfrm>
            <a:custGeom>
              <a:avLst/>
              <a:gdLst/>
              <a:ahLst/>
              <a:cxnLst/>
              <a:rect r="r" b="b" t="t" l="l"/>
              <a:pathLst>
                <a:path h="428048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428048"/>
                  </a:lnTo>
                  <a:lnTo>
                    <a:pt x="0" y="428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113" r="0" b="-3630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326880" cy="428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Segundo Alindor Malca Hernández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74155" y="7369683"/>
            <a:ext cx="7562850" cy="485394"/>
            <a:chOff x="0" y="0"/>
            <a:chExt cx="10083800" cy="6471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83800" cy="647192"/>
            </a:xfrm>
            <a:custGeom>
              <a:avLst/>
              <a:gdLst/>
              <a:ahLst/>
              <a:cxnLst/>
              <a:rect r="r" b="b" t="t" l="l"/>
              <a:pathLst>
                <a:path h="647192" w="1008380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9969627" y="0"/>
                  </a:lnTo>
                  <a:cubicBezTo>
                    <a:pt x="10032619" y="0"/>
                    <a:pt x="10083800" y="51181"/>
                    <a:pt x="10083800" y="114173"/>
                  </a:cubicBezTo>
                  <a:lnTo>
                    <a:pt x="10083800" y="533019"/>
                  </a:lnTo>
                  <a:cubicBezTo>
                    <a:pt x="10083800" y="596138"/>
                    <a:pt x="10032619" y="647192"/>
                    <a:pt x="9969627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FFF7ED"/>
            </a:solidFill>
            <a:ln w="1905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858000" y="7475220"/>
            <a:ext cx="6995160" cy="246888"/>
            <a:chOff x="0" y="0"/>
            <a:chExt cx="9326880" cy="329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Patricia Haydee Mere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574155" y="8521827"/>
            <a:ext cx="9894570" cy="773430"/>
            <a:chOff x="0" y="0"/>
            <a:chExt cx="13192760" cy="1031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92761" cy="1031240"/>
            </a:xfrm>
            <a:custGeom>
              <a:avLst/>
              <a:gdLst/>
              <a:ahLst/>
              <a:cxnLst/>
              <a:rect r="r" b="b" t="t" l="l"/>
              <a:pathLst>
                <a:path h="1031240" w="13192761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13042773" y="0"/>
                  </a:lnTo>
                  <a:cubicBezTo>
                    <a:pt x="13125577" y="0"/>
                    <a:pt x="13192761" y="67183"/>
                    <a:pt x="13192761" y="149987"/>
                  </a:cubicBezTo>
                  <a:lnTo>
                    <a:pt x="13192761" y="881253"/>
                  </a:lnTo>
                  <a:cubicBezTo>
                    <a:pt x="13192761" y="964057"/>
                    <a:pt x="13125577" y="1031240"/>
                    <a:pt x="13042773" y="1031240"/>
                  </a:cubicBezTo>
                  <a:lnTo>
                    <a:pt x="149987" y="1031240"/>
                  </a:lnTo>
                  <a:cubicBezTo>
                    <a:pt x="67183" y="1031240"/>
                    <a:pt x="0" y="964057"/>
                    <a:pt x="0" y="881253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DDD6F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58000" y="8764524"/>
            <a:ext cx="9326880" cy="246888"/>
            <a:chOff x="0" y="0"/>
            <a:chExt cx="12435840" cy="3291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35840" cy="329184"/>
            </a:xfrm>
            <a:custGeom>
              <a:avLst/>
              <a:gdLst/>
              <a:ahLst/>
              <a:cxnLst/>
              <a:rect r="r" b="b" t="t" l="l"/>
              <a:pathLst>
                <a:path h="329184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101" r="0" b="-6861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24358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rPr>
                <a:t>Link del catálogo en Canva/Genially: colocar aquí después de subir el PPTX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380" y="9244584"/>
            <a:ext cx="4114800" cy="384048"/>
            <a:chOff x="0" y="0"/>
            <a:chExt cx="5486400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Haz clic en “Menú” para navegar por las categorías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019020" y="9395460"/>
            <a:ext cx="1508760" cy="411480"/>
            <a:chOff x="0" y="0"/>
            <a:chExt cx="20116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116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Menú →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43B53"/>
            </a:solidFill>
            <a:ln w="19050" cap="sq">
              <a:solidFill>
                <a:srgbClr val="243B5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Navegación principal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Menú interactivo del catálogo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2084832"/>
            <a:ext cx="16322040" cy="466344"/>
            <a:chOff x="0" y="0"/>
            <a:chExt cx="21762720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62720" cy="621792"/>
            </a:xfrm>
            <a:custGeom>
              <a:avLst/>
              <a:gdLst/>
              <a:ahLst/>
              <a:cxnLst/>
              <a:rect r="r" b="b" t="t" l="l"/>
              <a:pathLst>
                <a:path h="621792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7627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Selecciona una categoría para ingresar a las fichas. Cada ficha incluye descripción, aplicación, ventaja virtual, ejemplo y enlace.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2015" y="2802255"/>
            <a:ext cx="3790950" cy="1568958"/>
            <a:chOff x="0" y="0"/>
            <a:chExt cx="5054600" cy="20919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3031236"/>
            <a:ext cx="548640" cy="521208"/>
            <a:chOff x="0" y="0"/>
            <a:chExt cx="731520" cy="6949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🔎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41932" y="3127248"/>
            <a:ext cx="2674620" cy="713232"/>
            <a:chOff x="0" y="0"/>
            <a:chExt cx="3566160" cy="9509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5" action="ppaction://hlinksldjump"/>
                </a:rPr>
                <a:t>1. Técnicas de problematización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41932" y="3936492"/>
            <a:ext cx="2606040" cy="274320"/>
            <a:chOff x="0" y="0"/>
            <a:chExt cx="3474720" cy="365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5" action="ppaction://hlinksldjump"/>
                </a:rPr>
                <a:t>CLIC PARA ABRIR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65395" y="2802255"/>
            <a:ext cx="3790950" cy="1568958"/>
            <a:chOff x="0" y="0"/>
            <a:chExt cx="5054600" cy="2091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5280660" y="3031236"/>
            <a:ext cx="548640" cy="521208"/>
            <a:chOff x="0" y="0"/>
            <a:chExt cx="731520" cy="6949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🧠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925312" y="3127248"/>
            <a:ext cx="2674620" cy="713232"/>
            <a:chOff x="0" y="0"/>
            <a:chExt cx="3566160" cy="9509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6" action="ppaction://hlinksldjump"/>
                </a:rPr>
                <a:t>2. Organización conceptual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925312" y="3936492"/>
            <a:ext cx="2606040" cy="274320"/>
            <a:chOff x="0" y="0"/>
            <a:chExt cx="3474720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6" action="ppaction://hlinksldjump"/>
                </a:rPr>
                <a:t>clic para abrir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48775" y="2802255"/>
            <a:ext cx="3790950" cy="1568958"/>
            <a:chOff x="0" y="0"/>
            <a:chExt cx="5054600" cy="20919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464040" y="3031236"/>
            <a:ext cx="548640" cy="521208"/>
            <a:chOff x="0" y="0"/>
            <a:chExt cx="731520" cy="6949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📚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08692" y="3127248"/>
            <a:ext cx="2674620" cy="713232"/>
            <a:chOff x="0" y="0"/>
            <a:chExt cx="3566160" cy="9509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7" action="ppaction://hlinksldjump"/>
                </a:rPr>
                <a:t>3. Revisión de fuentes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08692" y="3936492"/>
            <a:ext cx="2606040" cy="274320"/>
            <a:chOff x="0" y="0"/>
            <a:chExt cx="3474720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7" action="ppaction://hlinksldjump"/>
                </a:rPr>
                <a:t>clic para abrir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432155" y="2802255"/>
            <a:ext cx="3790950" cy="1568958"/>
            <a:chOff x="0" y="0"/>
            <a:chExt cx="5054600" cy="2091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647420" y="3031236"/>
            <a:ext cx="548640" cy="521208"/>
            <a:chOff x="0" y="0"/>
            <a:chExt cx="731520" cy="6949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💬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292072" y="3127248"/>
            <a:ext cx="2674620" cy="713232"/>
            <a:chOff x="0" y="0"/>
            <a:chExt cx="3566160" cy="95097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8" action="ppaction://hlinksldjump"/>
                </a:rPr>
                <a:t>4. Comunicación académica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292072" y="3936492"/>
            <a:ext cx="2606040" cy="274320"/>
            <a:chOff x="0" y="0"/>
            <a:chExt cx="3474720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8" action="ppaction://hlinksldjump"/>
                </a:rPr>
                <a:t>clic para abrir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82015" y="4969383"/>
            <a:ext cx="3790950" cy="1568958"/>
            <a:chOff x="0" y="0"/>
            <a:chExt cx="5054600" cy="2091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97280" y="5198364"/>
            <a:ext cx="548640" cy="521208"/>
            <a:chOff x="0" y="0"/>
            <a:chExt cx="731520" cy="694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🎬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41932" y="5294376"/>
            <a:ext cx="2674620" cy="713232"/>
            <a:chOff x="0" y="0"/>
            <a:chExt cx="3566160" cy="9509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9" action="ppaction://hlinksldjump"/>
                </a:rPr>
                <a:t>5. Comunicación y exposición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41932" y="6103620"/>
            <a:ext cx="2606040" cy="274320"/>
            <a:chOff x="0" y="0"/>
            <a:chExt cx="3474720" cy="3657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9" action="ppaction://hlinksldjump"/>
                </a:rPr>
                <a:t>clic para abrir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065395" y="4969383"/>
            <a:ext cx="3790950" cy="1568958"/>
            <a:chOff x="0" y="0"/>
            <a:chExt cx="5054600" cy="20919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06B6D4"/>
            </a:solidFill>
            <a:ln w="1905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5280660" y="5198364"/>
            <a:ext cx="548640" cy="521208"/>
            <a:chOff x="0" y="0"/>
            <a:chExt cx="731520" cy="69494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🤝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925312" y="5294376"/>
            <a:ext cx="2674620" cy="713232"/>
            <a:chOff x="0" y="0"/>
            <a:chExt cx="3566160" cy="95097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10" action="ppaction://hlinksldjump"/>
                </a:rPr>
                <a:t>6. Co-creación y organización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925312" y="6103620"/>
            <a:ext cx="2606040" cy="274320"/>
            <a:chOff x="0" y="0"/>
            <a:chExt cx="3474720" cy="3657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10" action="ppaction://hlinksldjump"/>
                </a:rPr>
                <a:t>clic para abrir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248775" y="4969383"/>
            <a:ext cx="3790950" cy="1568958"/>
            <a:chOff x="0" y="0"/>
            <a:chExt cx="5054600" cy="20919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9464040" y="5198364"/>
            <a:ext cx="548640" cy="521208"/>
            <a:chOff x="0" y="0"/>
            <a:chExt cx="731520" cy="69494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✅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108692" y="5294376"/>
            <a:ext cx="2674620" cy="713232"/>
            <a:chOff x="0" y="0"/>
            <a:chExt cx="3566160" cy="95097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11" action="ppaction://hlinksldjump"/>
                </a:rPr>
                <a:t>7. Evaluación y gestión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108692" y="6103620"/>
            <a:ext cx="2606040" cy="274320"/>
            <a:chOff x="0" y="0"/>
            <a:chExt cx="3474720" cy="3657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11" action="ppaction://hlinksldjump"/>
                </a:rPr>
                <a:t>clic para abrir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432155" y="4969383"/>
            <a:ext cx="3790950" cy="1568958"/>
            <a:chOff x="0" y="0"/>
            <a:chExt cx="5054600" cy="209194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54600" cy="2091944"/>
            </a:xfrm>
            <a:custGeom>
              <a:avLst/>
              <a:gdLst/>
              <a:ahLst/>
              <a:cxnLst/>
              <a:rect r="r" b="b" t="t" l="l"/>
              <a:pathLst>
                <a:path h="2091944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69821"/>
                  </a:lnTo>
                  <a:cubicBezTo>
                    <a:pt x="5054600" y="1992503"/>
                    <a:pt x="4955159" y="2091944"/>
                    <a:pt x="4832477" y="2091944"/>
                  </a:cubicBezTo>
                  <a:lnTo>
                    <a:pt x="222123" y="2091944"/>
                  </a:lnTo>
                  <a:cubicBezTo>
                    <a:pt x="99441" y="2091944"/>
                    <a:pt x="0" y="1992503"/>
                    <a:pt x="0" y="1869821"/>
                  </a:cubicBezTo>
                  <a:close/>
                </a:path>
              </a:pathLst>
            </a:custGeom>
            <a:solidFill>
              <a:srgbClr val="243B53"/>
            </a:solidFill>
            <a:ln w="19050" cap="sq">
              <a:solidFill>
                <a:srgbClr val="243B53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647420" y="5198364"/>
            <a:ext cx="548640" cy="521208"/>
            <a:chOff x="0" y="0"/>
            <a:chExt cx="731520" cy="69494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152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315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🤖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292072" y="5294376"/>
            <a:ext cx="2674620" cy="713232"/>
            <a:chOff x="0" y="0"/>
            <a:chExt cx="3566160" cy="95097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66160" cy="950976"/>
            </a:xfrm>
            <a:custGeom>
              <a:avLst/>
              <a:gdLst/>
              <a:ahLst/>
              <a:cxnLst/>
              <a:rect r="r" b="b" t="t" l="l"/>
              <a:pathLst>
                <a:path h="9509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35661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12" action="ppaction://hlinksldjump"/>
                </a:rPr>
                <a:t>8. Investigación digital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292072" y="6103620"/>
            <a:ext cx="2606040" cy="274320"/>
            <a:chOff x="0" y="0"/>
            <a:chExt cx="3474720" cy="3657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74720" cy="365760"/>
            </a:xfrm>
            <a:custGeom>
              <a:avLst/>
              <a:gdLst/>
              <a:ahLst/>
              <a:cxnLst/>
              <a:rect r="r" b="b" t="t" l="l"/>
              <a:pathLst>
                <a:path h="3657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34747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u="sng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  <a:hlinkClick r:id="rId12" action="ppaction://hlinksldjump"/>
                </a:rPr>
                <a:t>clic para abrir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82015" y="7328535"/>
            <a:ext cx="16203930" cy="1390650"/>
            <a:chOff x="0" y="0"/>
            <a:chExt cx="21605240" cy="18542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605239" cy="1854200"/>
            </a:xfrm>
            <a:custGeom>
              <a:avLst/>
              <a:gdLst/>
              <a:ahLst/>
              <a:cxnLst/>
              <a:rect r="r" b="b" t="t" l="l"/>
              <a:pathLst>
                <a:path h="1854200" w="21605239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419820" y="0"/>
                  </a:lnTo>
                  <a:cubicBezTo>
                    <a:pt x="21522182" y="0"/>
                    <a:pt x="21605239" y="83058"/>
                    <a:pt x="21605239" y="185420"/>
                  </a:cubicBezTo>
                  <a:lnTo>
                    <a:pt x="21605239" y="1668780"/>
                  </a:lnTo>
                  <a:cubicBezTo>
                    <a:pt x="21605239" y="1771142"/>
                    <a:pt x="21522182" y="1854200"/>
                    <a:pt x="2141982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03020" y="7528941"/>
            <a:ext cx="15499080" cy="665689"/>
            <a:chOff x="0" y="0"/>
            <a:chExt cx="20299680" cy="87187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299680" cy="871876"/>
            </a:xfrm>
            <a:custGeom>
              <a:avLst/>
              <a:gdLst/>
              <a:ahLst/>
              <a:cxnLst/>
              <a:rect r="r" b="b" t="t" l="l"/>
              <a:pathLst>
                <a:path h="871876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871876"/>
                  </a:lnTo>
                  <a:lnTo>
                    <a:pt x="0" y="8718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445" r="0" b="-37988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20299680" cy="871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Ruta sugerida: Problematización → Organización conceptual → Revisión de fuentes → Comunicación académica → Medios digitales → Justificación e-learning.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 didácticas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 didácticas: problematización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" y="2351532"/>
            <a:ext cx="5227320" cy="6530340"/>
            <a:chOff x="0" y="0"/>
            <a:chExt cx="6969760" cy="8707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EF4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82015" y="2349627"/>
            <a:ext cx="183642" cy="6534150"/>
            <a:chOff x="0" y="0"/>
            <a:chExt cx="244856" cy="8712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3292" y="2606040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🐟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4228" y="2592324"/>
            <a:ext cx="4046220" cy="548640"/>
            <a:chOff x="0" y="0"/>
            <a:chExt cx="5394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Cola de pescado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98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identificar causas de un problema central.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ordena variables, causas y efectos.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 trabaja en grupos con Miro o Lucidchart.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causas de baja participación en un curso virtual.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724" y="8366760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miro.com/diagramming/what-is-a-fishbone-diagram/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6060" y="2351532"/>
            <a:ext cx="5227320" cy="6530340"/>
            <a:chOff x="0" y="0"/>
            <a:chExt cx="6969760" cy="8707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CFDF5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4155" y="2349627"/>
            <a:ext cx="183642" cy="6534150"/>
            <a:chOff x="0" y="0"/>
            <a:chExt cx="244856" cy="871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85432" y="2606040"/>
            <a:ext cx="576072" cy="521208"/>
            <a:chOff x="0" y="0"/>
            <a:chExt cx="768096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981"/>
                  </a:solidFill>
                  <a:latin typeface="Aptos"/>
                  <a:ea typeface="Aptos"/>
                  <a:cs typeface="Aptos"/>
                  <a:sym typeface="Aptos"/>
                </a:rPr>
                <a:t>🌳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16368" y="2592324"/>
            <a:ext cx="4046220" cy="548640"/>
            <a:chOff x="0" y="0"/>
            <a:chExt cx="5394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Árbol de problemas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91312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separar problema, causas y consecuencias.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delimita el problema de investigación.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facilita construcción colaborativa sincrónica.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deserción en aulas virtuales por conectividad y acompañamiento.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912864" y="8366760"/>
            <a:ext cx="1988820" cy="301752"/>
            <a:chOff x="0" y="0"/>
            <a:chExt cx="26517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miro.com/diagramming/problem-tree-analysis/"/>
                </a:rPr>
                <a:t>Abrir recurso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68200" y="2351532"/>
            <a:ext cx="5227320" cy="6530340"/>
            <a:chOff x="0" y="0"/>
            <a:chExt cx="6969760" cy="8707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FFF7ED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266295" y="2349627"/>
            <a:ext cx="183642" cy="6534150"/>
            <a:chOff x="0" y="0"/>
            <a:chExt cx="244856" cy="8712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7572" y="2606040"/>
            <a:ext cx="576072" cy="521208"/>
            <a:chOff x="0" y="0"/>
            <a:chExt cx="768096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59E0B"/>
                  </a:solidFill>
                  <a:latin typeface="Aptos"/>
                  <a:ea typeface="Aptos"/>
                  <a:cs typeface="Aptos"/>
                  <a:sym typeface="Aptos"/>
                </a:rPr>
                <a:t>⏱️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08508" y="2592324"/>
            <a:ext cx="4046220" cy="548640"/>
            <a:chOff x="0" y="0"/>
            <a:chExt cx="5394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Línea de tiempo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60526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ordenar hechos, antecedentes o etapas.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ubica evolución del tema y vacíos de estudio.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sirve para presentar avances y cronogramas.</a:t>
            </a:r>
          </a:p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3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historia de la educación virtual 2020-2026.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605004" y="8366760"/>
            <a:ext cx="1988820" cy="301752"/>
            <a:chOff x="0" y="0"/>
            <a:chExt cx="265176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www.canva.com/graphs/timeline/"/>
                </a:rPr>
                <a:t>Abrir recurso ↗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 didácticas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Técnicas: organización conceptual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" y="2351532"/>
            <a:ext cx="5227320" cy="6530340"/>
            <a:chOff x="0" y="0"/>
            <a:chExt cx="6969760" cy="8707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CFDF5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82015" y="2349627"/>
            <a:ext cx="183642" cy="6534150"/>
            <a:chOff x="0" y="0"/>
            <a:chExt cx="244856" cy="8712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3292" y="2606040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981"/>
                  </a:solidFill>
                  <a:latin typeface="Aptos"/>
                  <a:ea typeface="Aptos"/>
                  <a:cs typeface="Aptos"/>
                  <a:sym typeface="Aptos"/>
                </a:rPr>
                <a:t>🧩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4228" y="2592324"/>
            <a:ext cx="4046220" cy="548640"/>
            <a:chOff x="0" y="0"/>
            <a:chExt cx="5394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Mapas conceptuales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98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representan conceptos y relaciones jerárquicas.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ayudan a construir marco teórico y categorías.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permiten comentarios y edición compartida.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variables de “competencia investigativa” conectadas con indicadores.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724" y="8366760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www.canva.com/graphs/concept-maps/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6060" y="2351532"/>
            <a:ext cx="5227320" cy="6530340"/>
            <a:chOff x="0" y="0"/>
            <a:chExt cx="6969760" cy="8707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EF4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4155" y="2349627"/>
            <a:ext cx="183642" cy="6534150"/>
            <a:chOff x="0" y="0"/>
            <a:chExt cx="244856" cy="871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85432" y="2606040"/>
            <a:ext cx="576072" cy="521208"/>
            <a:chOff x="0" y="0"/>
            <a:chExt cx="768096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🧠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16368" y="2592324"/>
            <a:ext cx="4046220" cy="548640"/>
            <a:chOff x="0" y="0"/>
            <a:chExt cx="5394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Mapas mentales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91312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organizan ideas desde un núcleo central.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apoyan lluvia de ideas y revisión inicial del tema.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 comparten como imagen o enlace editable.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subtemas sobre enseñanza e-learning para investigación.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912864" y="8366760"/>
            <a:ext cx="1988820" cy="301752"/>
            <a:chOff x="0" y="0"/>
            <a:chExt cx="26517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www.mindmeister.com/"/>
                </a:rPr>
                <a:t>Abrir recurso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68200" y="2351532"/>
            <a:ext cx="5227320" cy="6530340"/>
            <a:chOff x="0" y="0"/>
            <a:chExt cx="6969760" cy="8707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F5F3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266295" y="2349627"/>
            <a:ext cx="183642" cy="6534150"/>
            <a:chOff x="0" y="0"/>
            <a:chExt cx="244856" cy="8712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7572" y="2606040"/>
            <a:ext cx="576072" cy="521208"/>
            <a:chOff x="0" y="0"/>
            <a:chExt cx="768096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rPr>
                <a:t>📌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08508" y="2592324"/>
            <a:ext cx="4046220" cy="548640"/>
            <a:chOff x="0" y="0"/>
            <a:chExt cx="5394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Referencia clave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60526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Novak y Cañas plantean el mapa conceptual como organizador de conocimiento.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fortalece aprendizaje significativo y síntesis.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 integra en Genially, Canva o presentaciones.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mapa de pregunta, objetivos, variables y métodos.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605004" y="8366760"/>
            <a:ext cx="1988820" cy="301752"/>
            <a:chOff x="0" y="0"/>
            <a:chExt cx="265176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cmap.ihmc.us/docs/theory-of-concept-maps"/>
                </a:rPr>
                <a:t>Abrir recurso ↗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 didácticas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Técnica: revisión de fuentes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" y="2296668"/>
            <a:ext cx="5501640" cy="6667500"/>
            <a:chOff x="0" y="0"/>
            <a:chExt cx="7335520" cy="889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3552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33552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7170420" y="0"/>
                  </a:lnTo>
                  <a:cubicBezTo>
                    <a:pt x="7261606" y="0"/>
                    <a:pt x="7335520" y="73914"/>
                    <a:pt x="7335520" y="165100"/>
                  </a:cubicBezTo>
                  <a:lnTo>
                    <a:pt x="7335520" y="8724900"/>
                  </a:lnTo>
                  <a:cubicBezTo>
                    <a:pt x="7335520" y="8816086"/>
                    <a:pt x="7261606" y="8890000"/>
                    <a:pt x="7170420" y="8890000"/>
                  </a:cubicBezTo>
                  <a:lnTo>
                    <a:pt x="165100" y="8890000"/>
                  </a:lnTo>
                  <a:cubicBezTo>
                    <a:pt x="73914" y="8890000"/>
                    <a:pt x="0" y="8816086"/>
                    <a:pt x="0" y="8724900"/>
                  </a:cubicBezTo>
                  <a:close/>
                </a:path>
              </a:pathLst>
            </a:custGeom>
            <a:solidFill>
              <a:srgbClr val="FFF7ED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82015" y="2294763"/>
            <a:ext cx="183642" cy="6671310"/>
            <a:chOff x="0" y="0"/>
            <a:chExt cx="244856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895080"/>
            </a:xfrm>
            <a:custGeom>
              <a:avLst/>
              <a:gdLst/>
              <a:ahLst/>
              <a:cxnLst/>
              <a:rect r="r" b="b" t="t" l="l"/>
              <a:pathLst>
                <a:path h="889508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895080"/>
                  </a:lnTo>
                  <a:lnTo>
                    <a:pt x="0" y="889508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3292" y="2551176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59E0B"/>
                  </a:solidFill>
                  <a:latin typeface="Aptos"/>
                  <a:ea typeface="Aptos"/>
                  <a:cs typeface="Aptos"/>
                  <a:sym typeface="Aptos"/>
                </a:rPr>
                <a:t>📚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4228" y="2537460"/>
            <a:ext cx="4320540" cy="548640"/>
            <a:chOff x="0" y="0"/>
            <a:chExt cx="57607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760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Barrida de textos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981" y="3227708"/>
            <a:ext cx="4827527" cy="512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89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lectura rápida y estratégica para detectar ideas clave.</a:t>
            </a:r>
          </a:p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89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selecciona antecedentes, teorías y metodologías pertinentes.</a:t>
            </a:r>
          </a:p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89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 apoya en fichas compartidas, Drive o Zotero.</a:t>
            </a:r>
          </a:p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89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buscar en 5 artículos: objetivo, muestra, método, hallazgo y limitación.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724" y="8449056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scholar.google.com/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25653" y="2352484"/>
            <a:ext cx="4196715" cy="2139315"/>
            <a:chOff x="0" y="0"/>
            <a:chExt cx="5595620" cy="28524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95620" cy="2852420"/>
            </a:xfrm>
            <a:custGeom>
              <a:avLst/>
              <a:gdLst/>
              <a:ahLst/>
              <a:cxnLst/>
              <a:rect r="r" b="b" t="t" l="l"/>
              <a:pathLst>
                <a:path h="2852420" w="55956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448427" y="0"/>
                  </a:lnTo>
                  <a:cubicBezTo>
                    <a:pt x="5529707" y="0"/>
                    <a:pt x="5595620" y="65913"/>
                    <a:pt x="5595620" y="147193"/>
                  </a:cubicBezTo>
                  <a:lnTo>
                    <a:pt x="5595620" y="2705227"/>
                  </a:lnTo>
                  <a:cubicBezTo>
                    <a:pt x="5595620" y="2786507"/>
                    <a:pt x="5529707" y="2852420"/>
                    <a:pt x="5448427" y="2852420"/>
                  </a:cubicBezTo>
                  <a:lnTo>
                    <a:pt x="147193" y="2852420"/>
                  </a:lnTo>
                  <a:cubicBezTo>
                    <a:pt x="65913" y="2852420"/>
                    <a:pt x="0" y="2786507"/>
                    <a:pt x="0" y="2705227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296912" y="2496312"/>
            <a:ext cx="3840480" cy="384048"/>
            <a:chOff x="0" y="0"/>
            <a:chExt cx="5120640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1206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🔍 1. Localizar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297036" y="2976496"/>
            <a:ext cx="3840223" cy="102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Buscar artículos, libros y reportes confiables.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720512" y="2352484"/>
            <a:ext cx="4196715" cy="2139315"/>
            <a:chOff x="0" y="0"/>
            <a:chExt cx="5595620" cy="28524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595620" cy="2852420"/>
            </a:xfrm>
            <a:custGeom>
              <a:avLst/>
              <a:gdLst/>
              <a:ahLst/>
              <a:cxnLst/>
              <a:rect r="r" b="b" t="t" l="l"/>
              <a:pathLst>
                <a:path h="2852420" w="55956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448427" y="0"/>
                  </a:lnTo>
                  <a:cubicBezTo>
                    <a:pt x="5529707" y="0"/>
                    <a:pt x="5595620" y="65913"/>
                    <a:pt x="5595620" y="147193"/>
                  </a:cubicBezTo>
                  <a:lnTo>
                    <a:pt x="5595620" y="2705227"/>
                  </a:lnTo>
                  <a:cubicBezTo>
                    <a:pt x="5595620" y="2786507"/>
                    <a:pt x="5529707" y="2852420"/>
                    <a:pt x="5448427" y="2852420"/>
                  </a:cubicBezTo>
                  <a:lnTo>
                    <a:pt x="147193" y="2852420"/>
                  </a:lnTo>
                  <a:cubicBezTo>
                    <a:pt x="65913" y="2852420"/>
                    <a:pt x="0" y="2786507"/>
                    <a:pt x="0" y="2705227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891772" y="2496312"/>
            <a:ext cx="3840480" cy="384048"/>
            <a:chOff x="0" y="0"/>
            <a:chExt cx="512064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1206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🧪 2. Filtrar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891896" y="2976496"/>
            <a:ext cx="3840223" cy="102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Revisar actualidad, pertinencia y calidad metodológica.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125653" y="5164264"/>
            <a:ext cx="4196715" cy="2139315"/>
            <a:chOff x="0" y="0"/>
            <a:chExt cx="5595620" cy="28524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95620" cy="2852420"/>
            </a:xfrm>
            <a:custGeom>
              <a:avLst/>
              <a:gdLst/>
              <a:ahLst/>
              <a:cxnLst/>
              <a:rect r="r" b="b" t="t" l="l"/>
              <a:pathLst>
                <a:path h="2852420" w="55956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448427" y="0"/>
                  </a:lnTo>
                  <a:cubicBezTo>
                    <a:pt x="5529707" y="0"/>
                    <a:pt x="5595620" y="65913"/>
                    <a:pt x="5595620" y="147193"/>
                  </a:cubicBezTo>
                  <a:lnTo>
                    <a:pt x="5595620" y="2705227"/>
                  </a:lnTo>
                  <a:cubicBezTo>
                    <a:pt x="5595620" y="2786507"/>
                    <a:pt x="5529707" y="2852420"/>
                    <a:pt x="5448427" y="2852420"/>
                  </a:cubicBezTo>
                  <a:lnTo>
                    <a:pt x="147193" y="2852420"/>
                  </a:lnTo>
                  <a:cubicBezTo>
                    <a:pt x="65913" y="2852420"/>
                    <a:pt x="0" y="2786507"/>
                    <a:pt x="0" y="2705227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296912" y="5308092"/>
            <a:ext cx="3840480" cy="384048"/>
            <a:chOff x="0" y="0"/>
            <a:chExt cx="5120640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1206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📝 3. Extraer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7297036" y="5788276"/>
            <a:ext cx="3840223" cy="102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Registrar objetivo, enfoque, resultados y citas.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720512" y="5164264"/>
            <a:ext cx="4196715" cy="2139315"/>
            <a:chOff x="0" y="0"/>
            <a:chExt cx="5595620" cy="28524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595620" cy="2852420"/>
            </a:xfrm>
            <a:custGeom>
              <a:avLst/>
              <a:gdLst/>
              <a:ahLst/>
              <a:cxnLst/>
              <a:rect r="r" b="b" t="t" l="l"/>
              <a:pathLst>
                <a:path h="2852420" w="55956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448427" y="0"/>
                  </a:lnTo>
                  <a:cubicBezTo>
                    <a:pt x="5529707" y="0"/>
                    <a:pt x="5595620" y="65913"/>
                    <a:pt x="5595620" y="147193"/>
                  </a:cubicBezTo>
                  <a:lnTo>
                    <a:pt x="5595620" y="2705227"/>
                  </a:lnTo>
                  <a:cubicBezTo>
                    <a:pt x="5595620" y="2786507"/>
                    <a:pt x="5529707" y="2852420"/>
                    <a:pt x="5448427" y="2852420"/>
                  </a:cubicBezTo>
                  <a:lnTo>
                    <a:pt x="147193" y="2852420"/>
                  </a:lnTo>
                  <a:cubicBezTo>
                    <a:pt x="65913" y="2852420"/>
                    <a:pt x="0" y="2786507"/>
                    <a:pt x="0" y="2705227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891772" y="5308092"/>
            <a:ext cx="3840480" cy="384048"/>
            <a:chOff x="0" y="0"/>
            <a:chExt cx="512064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1206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🔗 4. Sintetizar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891896" y="5788276"/>
            <a:ext cx="3840223" cy="102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Comparar autores para construir argumentos.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132320" y="8202168"/>
            <a:ext cx="8778240" cy="411480"/>
            <a:chOff x="0" y="0"/>
            <a:chExt cx="1170432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7043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80" r="0" b="-36568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117043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8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Producto final de la técnica: matriz de revisión o cuadro de antecedentes para sustentar el planteamiento del problema.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 didácticas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Técnicas: comunicación académica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" y="2351532"/>
            <a:ext cx="5227320" cy="6530340"/>
            <a:chOff x="0" y="0"/>
            <a:chExt cx="6969760" cy="8707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F5F3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82015" y="2349627"/>
            <a:ext cx="183642" cy="6534150"/>
            <a:chOff x="0" y="0"/>
            <a:chExt cx="244856" cy="8712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3292" y="2606040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rPr>
                <a:t>💬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4228" y="2592324"/>
            <a:ext cx="4046220" cy="548640"/>
            <a:chOff x="0" y="0"/>
            <a:chExt cx="5394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Foros virtuales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98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discusión escrita asincrónica.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argumenta posturas con evidencia y citas.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permite participación reflexiva y retroalimentación.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foro: ¿qué técnica mejora la formulación del problema?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724" y="8366760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docs.moodle.org/en/Forum_activity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6060" y="2351532"/>
            <a:ext cx="5227320" cy="6530340"/>
            <a:chOff x="0" y="0"/>
            <a:chExt cx="6969760" cy="8707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EF4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4155" y="2349627"/>
            <a:ext cx="183642" cy="6534150"/>
            <a:chOff x="0" y="0"/>
            <a:chExt cx="244856" cy="871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85432" y="2606040"/>
            <a:ext cx="576072" cy="521208"/>
            <a:chOff x="0" y="0"/>
            <a:chExt cx="768096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🎙️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16368" y="2592324"/>
            <a:ext cx="4046220" cy="548640"/>
            <a:chOff x="0" y="0"/>
            <a:chExt cx="5394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Paneles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91312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presentación de posturas por especialistas o equipos.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contrasta enfoques, hallazgos y criterios.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puede grabarse y comentarse después.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panel sobre IA y ética en investigación.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912864" y="8366760"/>
            <a:ext cx="1988820" cy="301752"/>
            <a:chOff x="0" y="0"/>
            <a:chExt cx="26517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support.zoom.com/hc"/>
                </a:rPr>
                <a:t>Abrir recurso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68200" y="2351532"/>
            <a:ext cx="5227320" cy="6530340"/>
            <a:chOff x="0" y="0"/>
            <a:chExt cx="6969760" cy="8707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FEF2F2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266295" y="2349627"/>
            <a:ext cx="183642" cy="6534150"/>
            <a:chOff x="0" y="0"/>
            <a:chExt cx="244856" cy="8712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7572" y="2606040"/>
            <a:ext cx="576072" cy="521208"/>
            <a:chOff x="0" y="0"/>
            <a:chExt cx="768096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F4444"/>
                  </a:solidFill>
                  <a:latin typeface="Aptos"/>
                  <a:ea typeface="Aptos"/>
                  <a:cs typeface="Aptos"/>
                  <a:sym typeface="Aptos"/>
                </a:rPr>
                <a:t>⚖️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08508" y="2592324"/>
            <a:ext cx="4046220" cy="548640"/>
            <a:chOff x="0" y="0"/>
            <a:chExt cx="5394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Debates guiados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60526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defensa de argumentos con reglas claras.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desarrolla pensamiento crítico y análisis de evidencia.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se gestiona por salas, chat y rúbrica.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0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debate: ¿ChatGPT debe usarse en revisión bibliográfica?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605004" y="8366760"/>
            <a:ext cx="1988820" cy="301752"/>
            <a:chOff x="0" y="0"/>
            <a:chExt cx="265176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www.canva.com/education/"/>
                </a:rPr>
                <a:t>Abrir recurso ↗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didácticos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de comunicación y exposición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4873" y="2242756"/>
            <a:ext cx="5225415" cy="2825115"/>
            <a:chOff x="0" y="0"/>
            <a:chExt cx="6967220" cy="3766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6132" y="2386584"/>
            <a:ext cx="4869180" cy="384048"/>
            <a:chOff x="0" y="0"/>
            <a:chExt cx="649224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🎬 Videos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6256" y="2866768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Descripción: recurso audiovisual breve.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Investigación: explica procesos o resultados.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Virtual: favorece aprendizaje asincrónico.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video de 2 min sobre planteamiento del problema.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623560" y="4608576"/>
            <a:ext cx="301752" cy="246888"/>
            <a:chOff x="0" y="0"/>
            <a:chExt cx="402336" cy="329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www.youtube.com/"/>
                </a:rPr>
                <a:t>↗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77012" y="2242756"/>
            <a:ext cx="5225415" cy="2825115"/>
            <a:chOff x="0" y="0"/>
            <a:chExt cx="6967220" cy="3766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748272" y="2386584"/>
            <a:ext cx="4869180" cy="384048"/>
            <a:chOff x="0" y="0"/>
            <a:chExt cx="649224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🌀 Prezi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48396" y="2866768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Descripción: presentación con zoom narrativo.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Investigación: muestra relaciones entre ideas.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Virtual: se comparte por enlace.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ruta de marco teórico a metodología.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15700" y="4608576"/>
            <a:ext cx="301752" cy="246888"/>
            <a:chOff x="0" y="0"/>
            <a:chExt cx="402336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prezi.com/"/>
                </a:rPr>
                <a:t>↗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69152" y="2242756"/>
            <a:ext cx="5225415" cy="2825115"/>
            <a:chOff x="0" y="0"/>
            <a:chExt cx="6967220" cy="37668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40412" y="2386584"/>
            <a:ext cx="4869180" cy="384048"/>
            <a:chOff x="0" y="0"/>
            <a:chExt cx="6492240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✨ Genially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440536" y="2866768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Descripción: contenido interactivo y animado.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Investigación: crea catálogos, infografías y quizzes.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Virtual: alto nivel de navegación.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catálogo con botones por categoría.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007840" y="4608576"/>
            <a:ext cx="301752" cy="246888"/>
            <a:chOff x="0" y="0"/>
            <a:chExt cx="402336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genially.com/es/"/>
                </a:rPr>
                <a:t>↗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4873" y="5603176"/>
            <a:ext cx="5225415" cy="2825115"/>
            <a:chOff x="0" y="0"/>
            <a:chExt cx="6967220" cy="37668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56132" y="5747004"/>
            <a:ext cx="4869180" cy="384048"/>
            <a:chOff x="0" y="0"/>
            <a:chExt cx="649224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🎨 Canva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56256" y="6227188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Descripción: diseño de presentaciones y recursos.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Investigación: visualiza fichas, mapas y pósteres.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Virtual: coedición sencilla.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presentación interactiva con links.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623560" y="7968996"/>
            <a:ext cx="301752" cy="246888"/>
            <a:chOff x="0" y="0"/>
            <a:chExt cx="402336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  <a:hlinkClick r:id="rId8" tooltip="https://www.canva.com/presentations/"/>
                </a:rPr>
                <a:t>↗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77012" y="5603176"/>
            <a:ext cx="5225415" cy="2825115"/>
            <a:chOff x="0" y="0"/>
            <a:chExt cx="6967220" cy="37668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748272" y="5747004"/>
            <a:ext cx="4869180" cy="384048"/>
            <a:chOff x="0" y="0"/>
            <a:chExt cx="649224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🖱️ PowerPoint interactivo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748396" y="6227188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Descripción: diapositivas con botones de acción.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Investigación: organiza una exposición tipo catálogo.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Virtual: se exporta a PDF, video o web.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menú principal con hipervínculos.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315700" y="7968996"/>
            <a:ext cx="301752" cy="246888"/>
            <a:chOff x="0" y="0"/>
            <a:chExt cx="402336" cy="3291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  <a:hlinkClick r:id="rId9" tooltip="https://support.microsoft.com/powerpoint"/>
                </a:rPr>
                <a:t>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didácticos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de comunicación sincrónica y académica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" y="2351532"/>
            <a:ext cx="5227320" cy="6530340"/>
            <a:chOff x="0" y="0"/>
            <a:chExt cx="6969760" cy="8707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EF4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82015" y="2349627"/>
            <a:ext cx="183642" cy="6534150"/>
            <a:chOff x="0" y="0"/>
            <a:chExt cx="244856" cy="8712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3292" y="2606040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🎥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4228" y="2592324"/>
            <a:ext cx="4046220" cy="548640"/>
            <a:chOff x="0" y="0"/>
            <a:chExt cx="5394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Zoom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98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videoconferencias, salas y grabaciones.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asesorías, entrevistas y sustentaciones.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facilita interacción en tiempo real.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tutoría para revisar objetivos de investigación.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724" y="8366760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zoom.us/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6060" y="2351532"/>
            <a:ext cx="5227320" cy="6530340"/>
            <a:chOff x="0" y="0"/>
            <a:chExt cx="6969760" cy="8707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CFDF5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4155" y="2349627"/>
            <a:ext cx="183642" cy="6534150"/>
            <a:chOff x="0" y="0"/>
            <a:chExt cx="244856" cy="871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85432" y="2606040"/>
            <a:ext cx="576072" cy="521208"/>
            <a:chOff x="0" y="0"/>
            <a:chExt cx="768096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981"/>
                  </a:solidFill>
                  <a:latin typeface="Aptos"/>
                  <a:ea typeface="Aptos"/>
                  <a:cs typeface="Aptos"/>
                  <a:sym typeface="Aptos"/>
                </a:rPr>
                <a:t>📹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16368" y="2592324"/>
            <a:ext cx="4046220" cy="548640"/>
            <a:chOff x="0" y="0"/>
            <a:chExt cx="5394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Google Meet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91312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reuniones integradas a Google Workspace.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clases, asesorías y coordinación de equipos.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acceso rápido desde enlaces y calendario.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exposición de avances de marco teórico.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912864" y="8366760"/>
            <a:ext cx="1988820" cy="301752"/>
            <a:chOff x="0" y="0"/>
            <a:chExt cx="26517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meet.google.com/"/>
                </a:rPr>
                <a:t>Abrir recurso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68200" y="2351532"/>
            <a:ext cx="5227320" cy="6530340"/>
            <a:chOff x="0" y="0"/>
            <a:chExt cx="6969760" cy="8707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FFF7ED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266295" y="2349627"/>
            <a:ext cx="183642" cy="6534150"/>
            <a:chOff x="0" y="0"/>
            <a:chExt cx="244856" cy="8712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7572" y="2606040"/>
            <a:ext cx="576072" cy="521208"/>
            <a:chOff x="0" y="0"/>
            <a:chExt cx="768096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59E0B"/>
                  </a:solidFill>
                  <a:latin typeface="Aptos"/>
                  <a:ea typeface="Aptos"/>
                  <a:cs typeface="Aptos"/>
                  <a:sym typeface="Aptos"/>
                </a:rPr>
                <a:t>📱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08508" y="2592324"/>
            <a:ext cx="4046220" cy="548640"/>
            <a:chOff x="0" y="0"/>
            <a:chExt cx="5394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WhatsApp académico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60526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comunicación rápida y seguimiento grupal.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coordina tareas, recordatorios y evidencias.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útil para acompañamiento inmediato.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grupo de equipo para avisos y entrega de fichas.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605004" y="8366760"/>
            <a:ext cx="1988820" cy="301752"/>
            <a:chOff x="0" y="0"/>
            <a:chExt cx="265176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www.whatsapp.com/"/>
                </a:rPr>
                <a:t>Abrir recurso ↗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06B6D4"/>
            </a:solidFill>
            <a:ln w="1905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didácticos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de co-creación visual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4873" y="2297620"/>
            <a:ext cx="5225415" cy="2825115"/>
            <a:chOff x="0" y="0"/>
            <a:chExt cx="6967220" cy="3766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6132" y="2441448"/>
            <a:ext cx="4869180" cy="384048"/>
            <a:chOff x="0" y="0"/>
            <a:chExt cx="649224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🧭 Miro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6256" y="292163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Pizarra colaborativa para mapas, flujos y lluvias de ideas.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árbol de problemas construido por equipos.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623560" y="4663440"/>
            <a:ext cx="301752" cy="246888"/>
            <a:chOff x="0" y="0"/>
            <a:chExt cx="402336" cy="329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06B6D4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miro.com/"/>
                </a:rPr>
                <a:t>↗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77012" y="2297620"/>
            <a:ext cx="5225415" cy="2825115"/>
            <a:chOff x="0" y="0"/>
            <a:chExt cx="6967220" cy="3766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748272" y="2441448"/>
            <a:ext cx="4869180" cy="384048"/>
            <a:chOff x="0" y="0"/>
            <a:chExt cx="649224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🧠 MindMeister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48396" y="292163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Mapas mentales colaborativos.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organizar variables y dimensiones de un tema.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15700" y="4663440"/>
            <a:ext cx="301752" cy="246888"/>
            <a:chOff x="0" y="0"/>
            <a:chExt cx="402336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06B6D4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www.mindmeister.com/"/>
                </a:rPr>
                <a:t>↗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69152" y="2297620"/>
            <a:ext cx="5225415" cy="2825115"/>
            <a:chOff x="0" y="0"/>
            <a:chExt cx="6967220" cy="37668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40412" y="2441448"/>
            <a:ext cx="4869180" cy="384048"/>
            <a:chOff x="0" y="0"/>
            <a:chExt cx="6492240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🧱 Padlet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440536" y="292163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Muro digital para evidencias, enlaces y comentarios.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banco de artículos sobre investigación científica.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007840" y="4663440"/>
            <a:ext cx="301752" cy="246888"/>
            <a:chOff x="0" y="0"/>
            <a:chExt cx="402336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06B6D4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padlet.com/"/>
                </a:rPr>
                <a:t>↗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4873" y="5795200"/>
            <a:ext cx="5225415" cy="2825115"/>
            <a:chOff x="0" y="0"/>
            <a:chExt cx="6967220" cy="37668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56132" y="5939028"/>
            <a:ext cx="4869180" cy="384048"/>
            <a:chOff x="0" y="0"/>
            <a:chExt cx="649224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📝 Jamboard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56256" y="641921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Pizarra digital referencial; Google finalizó el servicio.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se explica como antecedente de pizarras colaborativas.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623560" y="8161020"/>
            <a:ext cx="301752" cy="246888"/>
            <a:chOff x="0" y="0"/>
            <a:chExt cx="402336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06B6D4"/>
                  </a:solidFill>
                  <a:latin typeface="Aptos Bold"/>
                  <a:ea typeface="Aptos Bold"/>
                  <a:cs typeface="Aptos Bold"/>
                  <a:sym typeface="Aptos Bold"/>
                  <a:hlinkClick r:id="rId8" tooltip="https://support.google.com/jamboard?hl=es"/>
                </a:rPr>
                <a:t>↗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77012" y="5795200"/>
            <a:ext cx="5225415" cy="2825115"/>
            <a:chOff x="0" y="0"/>
            <a:chExt cx="6967220" cy="37668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748272" y="5939028"/>
            <a:ext cx="4869180" cy="384048"/>
            <a:chOff x="0" y="0"/>
            <a:chExt cx="649224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🔷 Lucidchart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748396" y="641921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Diagramas, mapas y flujos profesionales.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diagrama de metodología de investigación.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315700" y="8161020"/>
            <a:ext cx="301752" cy="246888"/>
            <a:chOff x="0" y="0"/>
            <a:chExt cx="402336" cy="3291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06B6D4"/>
                  </a:solidFill>
                  <a:latin typeface="Aptos Bold"/>
                  <a:ea typeface="Aptos Bold"/>
                  <a:cs typeface="Aptos Bold"/>
                  <a:sym typeface="Aptos Bold"/>
                  <a:hlinkClick r:id="rId9" tooltip="https://www.lucidchart.com/"/>
                </a:rPr>
                <a:t>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43B53"/>
            </a:solidFill>
            <a:ln w="19050" cap="sq">
              <a:solidFill>
                <a:srgbClr val="243B5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didácticos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de organización del trabajo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3980" y="2351532"/>
            <a:ext cx="7147560" cy="6598920"/>
            <a:chOff x="0" y="0"/>
            <a:chExt cx="9530080" cy="8798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30080" cy="8798560"/>
            </a:xfrm>
            <a:custGeom>
              <a:avLst/>
              <a:gdLst/>
              <a:ahLst/>
              <a:cxnLst/>
              <a:rect r="r" b="b" t="t" l="l"/>
              <a:pathLst>
                <a:path h="8798560" w="953008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365107" y="0"/>
                  </a:lnTo>
                  <a:cubicBezTo>
                    <a:pt x="9456165" y="0"/>
                    <a:pt x="9530080" y="73914"/>
                    <a:pt x="9530080" y="164973"/>
                  </a:cubicBezTo>
                  <a:lnTo>
                    <a:pt x="9530080" y="8633587"/>
                  </a:lnTo>
                  <a:cubicBezTo>
                    <a:pt x="9530080" y="8724646"/>
                    <a:pt x="9456165" y="8798560"/>
                    <a:pt x="9365107" y="8798560"/>
                  </a:cubicBezTo>
                  <a:lnTo>
                    <a:pt x="164973" y="8798560"/>
                  </a:lnTo>
                  <a:cubicBezTo>
                    <a:pt x="73914" y="8798560"/>
                    <a:pt x="0" y="8724646"/>
                    <a:pt x="0" y="8633587"/>
                  </a:cubicBezTo>
                  <a:close/>
                </a:path>
              </a:pathLst>
            </a:custGeom>
            <a:solidFill>
              <a:srgbClr val="EEF4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62075" y="2349627"/>
            <a:ext cx="183642" cy="6602730"/>
            <a:chOff x="0" y="0"/>
            <a:chExt cx="244856" cy="8803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803640"/>
            </a:xfrm>
            <a:custGeom>
              <a:avLst/>
              <a:gdLst/>
              <a:ahLst/>
              <a:cxnLst/>
              <a:rect r="r" b="b" t="t" l="l"/>
              <a:pathLst>
                <a:path h="880364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73352" y="2606040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🗂️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04288" y="2592324"/>
            <a:ext cx="5966460" cy="548640"/>
            <a:chOff x="0" y="0"/>
            <a:chExt cx="79552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9552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Trello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701041" y="3282572"/>
            <a:ext cx="6473447" cy="505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tableros Kanban para tareas y responsables.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ordena etapas: búsqueda, lectura, redacción y revisión.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visibiliza avances del equipo.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lista “Pendiente-En proceso-Entregado” del catálogo.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700784" y="8435340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trello.com/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30740" y="2351532"/>
            <a:ext cx="7147560" cy="6598920"/>
            <a:chOff x="0" y="0"/>
            <a:chExt cx="9530080" cy="8798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30080" cy="8798560"/>
            </a:xfrm>
            <a:custGeom>
              <a:avLst/>
              <a:gdLst/>
              <a:ahLst/>
              <a:cxnLst/>
              <a:rect r="r" b="b" t="t" l="l"/>
              <a:pathLst>
                <a:path h="8798560" w="953008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365107" y="0"/>
                  </a:lnTo>
                  <a:cubicBezTo>
                    <a:pt x="9456165" y="0"/>
                    <a:pt x="9530080" y="73914"/>
                    <a:pt x="9530080" y="164973"/>
                  </a:cubicBezTo>
                  <a:lnTo>
                    <a:pt x="9530080" y="8633587"/>
                  </a:lnTo>
                  <a:cubicBezTo>
                    <a:pt x="9530080" y="8724646"/>
                    <a:pt x="9456165" y="8798560"/>
                    <a:pt x="9365107" y="8798560"/>
                  </a:cubicBezTo>
                  <a:lnTo>
                    <a:pt x="164973" y="8798560"/>
                  </a:lnTo>
                  <a:cubicBezTo>
                    <a:pt x="73914" y="8798560"/>
                    <a:pt x="0" y="8724646"/>
                    <a:pt x="0" y="8633587"/>
                  </a:cubicBezTo>
                  <a:close/>
                </a:path>
              </a:pathLst>
            </a:custGeom>
            <a:solidFill>
              <a:srgbClr val="F5F3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28835" y="2349627"/>
            <a:ext cx="183642" cy="6602730"/>
            <a:chOff x="0" y="0"/>
            <a:chExt cx="244856" cy="8803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856" cy="8803640"/>
            </a:xfrm>
            <a:custGeom>
              <a:avLst/>
              <a:gdLst/>
              <a:ahLst/>
              <a:cxnLst/>
              <a:rect r="r" b="b" t="t" l="l"/>
              <a:pathLst>
                <a:path h="880364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243B53"/>
            </a:solidFill>
            <a:ln w="19050" cap="sq">
              <a:solidFill>
                <a:srgbClr val="243B5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040112" y="2606040"/>
            <a:ext cx="576072" cy="521208"/>
            <a:chOff x="0" y="0"/>
            <a:chExt cx="768096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📒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71048" y="2592324"/>
            <a:ext cx="5966460" cy="548640"/>
            <a:chOff x="0" y="0"/>
            <a:chExt cx="79552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79552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Notion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067801" y="3282572"/>
            <a:ext cx="6473447" cy="505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espacio todo-en-uno para notas, bases de datos y cronogramas.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centraliza fuentes, fichas y borradores.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permite plantillas y trabajo colaborativo.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680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base de datos con técnicas, enlaces y ejemplos.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067544" y="8435340"/>
            <a:ext cx="1988820" cy="301752"/>
            <a:chOff x="0" y="0"/>
            <a:chExt cx="26517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www.notion.so/"/>
                </a:rPr>
                <a:t>Abrir recurso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Evaluación y gestión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de evaluación: gamificación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0612" y="2393633"/>
            <a:ext cx="7214235" cy="2564511"/>
            <a:chOff x="0" y="0"/>
            <a:chExt cx="9618980" cy="34193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18980" cy="3419348"/>
            </a:xfrm>
            <a:custGeom>
              <a:avLst/>
              <a:gdLst/>
              <a:ahLst/>
              <a:cxnLst/>
              <a:rect r="r" b="b" t="t" l="l"/>
              <a:pathLst>
                <a:path h="3419348" w="96189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9471914" y="0"/>
                  </a:lnTo>
                  <a:cubicBezTo>
                    <a:pt x="9553194" y="0"/>
                    <a:pt x="9618980" y="65786"/>
                    <a:pt x="9618980" y="147066"/>
                  </a:cubicBezTo>
                  <a:lnTo>
                    <a:pt x="9618980" y="3272282"/>
                  </a:lnTo>
                  <a:cubicBezTo>
                    <a:pt x="9618980" y="3353562"/>
                    <a:pt x="9553194" y="3419348"/>
                    <a:pt x="9471914" y="3419348"/>
                  </a:cubicBezTo>
                  <a:lnTo>
                    <a:pt x="147066" y="3419348"/>
                  </a:lnTo>
                  <a:cubicBezTo>
                    <a:pt x="65786" y="3419348"/>
                    <a:pt x="0" y="3353562"/>
                    <a:pt x="0" y="3272282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61872" y="2537460"/>
            <a:ext cx="6858000" cy="384048"/>
            <a:chOff x="0" y="0"/>
            <a:chExt cx="914400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1440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🎯 Quizizz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61996" y="3017644"/>
            <a:ext cx="6857743" cy="145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Cuestionarios gamificados con retroalimentación.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medir comprensión de técnicas didácticas.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18120" y="4498848"/>
            <a:ext cx="301752" cy="246888"/>
            <a:chOff x="0" y="0"/>
            <a:chExt cx="402336" cy="329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quizizz.com/"/>
                </a:rPr>
                <a:t>↗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20212" y="2393633"/>
            <a:ext cx="7214235" cy="2564511"/>
            <a:chOff x="0" y="0"/>
            <a:chExt cx="9618980" cy="34193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18980" cy="3419348"/>
            </a:xfrm>
            <a:custGeom>
              <a:avLst/>
              <a:gdLst/>
              <a:ahLst/>
              <a:cxnLst/>
              <a:rect r="r" b="b" t="t" l="l"/>
              <a:pathLst>
                <a:path h="3419348" w="96189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9471914" y="0"/>
                  </a:lnTo>
                  <a:cubicBezTo>
                    <a:pt x="9553194" y="0"/>
                    <a:pt x="9618980" y="65786"/>
                    <a:pt x="9618980" y="147066"/>
                  </a:cubicBezTo>
                  <a:lnTo>
                    <a:pt x="9618980" y="3272282"/>
                  </a:lnTo>
                  <a:cubicBezTo>
                    <a:pt x="9618980" y="3353562"/>
                    <a:pt x="9553194" y="3419348"/>
                    <a:pt x="9471914" y="3419348"/>
                  </a:cubicBezTo>
                  <a:lnTo>
                    <a:pt x="147066" y="3419348"/>
                  </a:lnTo>
                  <a:cubicBezTo>
                    <a:pt x="65786" y="3419348"/>
                    <a:pt x="0" y="3353562"/>
                    <a:pt x="0" y="3272282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91472" y="2537460"/>
            <a:ext cx="6858000" cy="384048"/>
            <a:chOff x="0" y="0"/>
            <a:chExt cx="914400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440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🏆 Kahoot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491596" y="3017644"/>
            <a:ext cx="6857743" cy="145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Juego de preguntas en vivo.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repaso rápido de medios didácticos.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047720" y="4498848"/>
            <a:ext cx="301752" cy="246888"/>
            <a:chOff x="0" y="0"/>
            <a:chExt cx="402336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kahoot.com/"/>
                </a:rPr>
                <a:t>↗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0612" y="5616892"/>
            <a:ext cx="7214235" cy="2564511"/>
            <a:chOff x="0" y="0"/>
            <a:chExt cx="9618980" cy="34193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18980" cy="3419348"/>
            </a:xfrm>
            <a:custGeom>
              <a:avLst/>
              <a:gdLst/>
              <a:ahLst/>
              <a:cxnLst/>
              <a:rect r="r" b="b" t="t" l="l"/>
              <a:pathLst>
                <a:path h="3419348" w="96189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9471914" y="0"/>
                  </a:lnTo>
                  <a:cubicBezTo>
                    <a:pt x="9553194" y="0"/>
                    <a:pt x="9618980" y="65786"/>
                    <a:pt x="9618980" y="147066"/>
                  </a:cubicBezTo>
                  <a:lnTo>
                    <a:pt x="9618980" y="3272282"/>
                  </a:lnTo>
                  <a:cubicBezTo>
                    <a:pt x="9618980" y="3353562"/>
                    <a:pt x="9553194" y="3419348"/>
                    <a:pt x="9471914" y="3419348"/>
                  </a:cubicBezTo>
                  <a:lnTo>
                    <a:pt x="147066" y="3419348"/>
                  </a:lnTo>
                  <a:cubicBezTo>
                    <a:pt x="65786" y="3419348"/>
                    <a:pt x="0" y="3353562"/>
                    <a:pt x="0" y="3272282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61872" y="5760720"/>
            <a:ext cx="6858000" cy="384048"/>
            <a:chOff x="0" y="0"/>
            <a:chExt cx="9144000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1440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📊 Mentimeter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61996" y="6240904"/>
            <a:ext cx="6857743" cy="145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Nubes de palabras, encuestas y votaciones.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elegir la técnica más útil para investigar.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818120" y="7722108"/>
            <a:ext cx="301752" cy="246888"/>
            <a:chOff x="0" y="0"/>
            <a:chExt cx="402336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www.mentimeter.com/"/>
                </a:rPr>
                <a:t>↗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20212" y="5616892"/>
            <a:ext cx="7214235" cy="2564511"/>
            <a:chOff x="0" y="0"/>
            <a:chExt cx="9618980" cy="34193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18980" cy="3419348"/>
            </a:xfrm>
            <a:custGeom>
              <a:avLst/>
              <a:gdLst/>
              <a:ahLst/>
              <a:cxnLst/>
              <a:rect r="r" b="b" t="t" l="l"/>
              <a:pathLst>
                <a:path h="3419348" w="96189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9471914" y="0"/>
                  </a:lnTo>
                  <a:cubicBezTo>
                    <a:pt x="9553194" y="0"/>
                    <a:pt x="9618980" y="65786"/>
                    <a:pt x="9618980" y="147066"/>
                  </a:cubicBezTo>
                  <a:lnTo>
                    <a:pt x="9618980" y="3272282"/>
                  </a:lnTo>
                  <a:cubicBezTo>
                    <a:pt x="9618980" y="3353562"/>
                    <a:pt x="9553194" y="3419348"/>
                    <a:pt x="9471914" y="3419348"/>
                  </a:cubicBezTo>
                  <a:lnTo>
                    <a:pt x="147066" y="3419348"/>
                  </a:lnTo>
                  <a:cubicBezTo>
                    <a:pt x="65786" y="3419348"/>
                    <a:pt x="0" y="3353562"/>
                    <a:pt x="0" y="3272282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491472" y="5760720"/>
            <a:ext cx="6858000" cy="384048"/>
            <a:chOff x="0" y="0"/>
            <a:chExt cx="914400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1440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🧩 Wordwall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491596" y="6240904"/>
            <a:ext cx="6857743" cy="145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Actividades interactivas y plantillas.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relacionar herramienta con función educativa.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6047720" y="7722108"/>
            <a:ext cx="301752" cy="246888"/>
            <a:chOff x="0" y="0"/>
            <a:chExt cx="402336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8" tooltip="https://wordwall.net/"/>
                </a:rPr>
                <a:t>↗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87755" y="8220075"/>
            <a:ext cx="15449550" cy="704850"/>
            <a:chOff x="0" y="0"/>
            <a:chExt cx="20599400" cy="939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599400" cy="939800"/>
            </a:xfrm>
            <a:custGeom>
              <a:avLst/>
              <a:gdLst/>
              <a:ahLst/>
              <a:cxnLst/>
              <a:rect r="r" b="b" t="t" l="l"/>
              <a:pathLst>
                <a:path h="939800" w="2059940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20449032" y="0"/>
                  </a:lnTo>
                  <a:cubicBezTo>
                    <a:pt x="20532089" y="0"/>
                    <a:pt x="20599400" y="67310"/>
                    <a:pt x="20599400" y="150368"/>
                  </a:cubicBezTo>
                  <a:lnTo>
                    <a:pt x="20599400" y="789432"/>
                  </a:lnTo>
                  <a:cubicBezTo>
                    <a:pt x="20599400" y="872490"/>
                    <a:pt x="20532089" y="939800"/>
                    <a:pt x="2044903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ECFDF5"/>
            </a:solidFill>
            <a:ln w="19050" cap="sq">
              <a:solidFill>
                <a:srgbClr val="BBF7D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440180" y="8476488"/>
            <a:ext cx="14744700" cy="219456"/>
            <a:chOff x="0" y="0"/>
            <a:chExt cx="19659600" cy="2926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659600" cy="292608"/>
            </a:xfrm>
            <a:custGeom>
              <a:avLst/>
              <a:gdLst/>
              <a:ahLst/>
              <a:cxnLst/>
              <a:rect r="r" b="b" t="t" l="l"/>
              <a:pathLst>
                <a:path h="292608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150" r="0" b="-12591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96596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Ventaja e-learning: convierten la evaluación en una experiencia participativa, con resultados inmediatos y posibilidad de retroalimentación.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Evaluación y gestión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de gestión del aprendizaje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" y="2351532"/>
            <a:ext cx="5227320" cy="6530340"/>
            <a:chOff x="0" y="0"/>
            <a:chExt cx="6969760" cy="8707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F5F3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82015" y="2349627"/>
            <a:ext cx="183642" cy="6534150"/>
            <a:chOff x="0" y="0"/>
            <a:chExt cx="244856" cy="8712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3292" y="2606040"/>
            <a:ext cx="576072" cy="521208"/>
            <a:chOff x="0" y="0"/>
            <a:chExt cx="76809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rPr>
                <a:t>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4228" y="2592324"/>
            <a:ext cx="4046220" cy="548640"/>
            <a:chOff x="0" y="0"/>
            <a:chExt cx="5394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Moodle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98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LMS para cursos, foros, tareas y calificaciones.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gestiona actividades de investigación y rúbricas.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centraliza recursos y seguimiento.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aula con foro, tarea de matriz y cuestionario.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724" y="8366760"/>
            <a:ext cx="1988820" cy="301752"/>
            <a:chOff x="0" y="0"/>
            <a:chExt cx="26517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moodle.org/"/>
                </a:rPr>
                <a:t>Abrir recurso 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6060" y="2351532"/>
            <a:ext cx="5227320" cy="6530340"/>
            <a:chOff x="0" y="0"/>
            <a:chExt cx="6969760" cy="8707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EF4FF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4155" y="2349627"/>
            <a:ext cx="183642" cy="6534150"/>
            <a:chOff x="0" y="0"/>
            <a:chExt cx="244856" cy="871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85432" y="2606040"/>
            <a:ext cx="576072" cy="521208"/>
            <a:chOff x="0" y="0"/>
            <a:chExt cx="768096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🏫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16368" y="2592324"/>
            <a:ext cx="4046220" cy="548640"/>
            <a:chOff x="0" y="0"/>
            <a:chExt cx="5394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Google Classroom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91312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gestión de clases integrada con Google.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asigna lecturas, fichas y entregas.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fácil acceso para estudiantes.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publicar instrucciones y recibir avances del catálogo.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912864" y="8366760"/>
            <a:ext cx="1988820" cy="301752"/>
            <a:chOff x="0" y="0"/>
            <a:chExt cx="26517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classroom.google.com/"/>
                </a:rPr>
                <a:t>Abrir recurso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68200" y="2351532"/>
            <a:ext cx="5227320" cy="6530340"/>
            <a:chOff x="0" y="0"/>
            <a:chExt cx="6969760" cy="8707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69760" cy="8707120"/>
            </a:xfrm>
            <a:custGeom>
              <a:avLst/>
              <a:gdLst/>
              <a:ahLst/>
              <a:cxnLst/>
              <a:rect r="r" b="b" t="t" l="l"/>
              <a:pathLst>
                <a:path h="8707120" w="69697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04660" y="0"/>
                  </a:lnTo>
                  <a:cubicBezTo>
                    <a:pt x="6895846" y="0"/>
                    <a:pt x="6969760" y="73914"/>
                    <a:pt x="6969760" y="165100"/>
                  </a:cubicBezTo>
                  <a:lnTo>
                    <a:pt x="6969760" y="8542020"/>
                  </a:lnTo>
                  <a:cubicBezTo>
                    <a:pt x="6969760" y="8633206"/>
                    <a:pt x="6895846" y="8707120"/>
                    <a:pt x="6804660" y="8707120"/>
                  </a:cubicBezTo>
                  <a:lnTo>
                    <a:pt x="165100" y="8707120"/>
                  </a:lnTo>
                  <a:cubicBezTo>
                    <a:pt x="73914" y="8707120"/>
                    <a:pt x="0" y="8633206"/>
                    <a:pt x="0" y="8542020"/>
                  </a:cubicBezTo>
                  <a:close/>
                </a:path>
              </a:pathLst>
            </a:custGeom>
            <a:solidFill>
              <a:srgbClr val="ECFDF5"/>
            </a:solidFill>
            <a:ln w="1524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266295" y="2349627"/>
            <a:ext cx="183642" cy="6534150"/>
            <a:chOff x="0" y="0"/>
            <a:chExt cx="244856" cy="8712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856" cy="8712200"/>
            </a:xfrm>
            <a:custGeom>
              <a:avLst/>
              <a:gdLst/>
              <a:ahLst/>
              <a:cxnLst/>
              <a:rect r="r" b="b" t="t" l="l"/>
              <a:pathLst>
                <a:path h="87122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8712200"/>
                  </a:lnTo>
                  <a:lnTo>
                    <a:pt x="0" y="8712200"/>
                  </a:lnTo>
                  <a:close/>
                </a:path>
              </a:pathLst>
            </a:custGeom>
            <a:solidFill>
              <a:srgbClr val="10B981"/>
            </a:solidFill>
            <a:ln w="190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7572" y="2606040"/>
            <a:ext cx="576072" cy="521208"/>
            <a:chOff x="0" y="0"/>
            <a:chExt cx="768096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694944"/>
            </a:xfrm>
            <a:custGeom>
              <a:avLst/>
              <a:gdLst/>
              <a:ahLst/>
              <a:cxnLst/>
              <a:rect r="r" b="b" t="t" l="l"/>
              <a:pathLst>
                <a:path h="69494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6809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981"/>
                  </a:solidFill>
                  <a:latin typeface="Aptos"/>
                  <a:ea typeface="Aptos"/>
                  <a:cs typeface="Aptos"/>
                  <a:sym typeface="Aptos"/>
                </a:rPr>
                <a:t>📘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08508" y="2592324"/>
            <a:ext cx="4046220" cy="548640"/>
            <a:chOff x="0" y="0"/>
            <a:chExt cx="5394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394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6"/>
                </a:lnSpc>
              </a:pPr>
              <a:r>
                <a:rPr lang="en-US" sz="213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Canvas LMS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605261" y="3292097"/>
            <a:ext cx="4553207" cy="49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Sirve: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plataforma LMS para cursos y evaluación.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Investigación: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organiza módulos, rúbricas y progreso.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Virtual: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ofrece gestión estructurada de aprendizajes.</a:t>
            </a:r>
          </a:p>
          <a:p>
            <a:pPr algn="l">
              <a:lnSpc>
                <a:spcPts val="1817"/>
              </a:lnSpc>
            </a:pPr>
            <a:r>
              <a:rPr lang="en-US" sz="1514" b="true">
                <a:solidFill>
                  <a:srgbClr val="243B53"/>
                </a:solidFill>
                <a:latin typeface="Aptos Bold"/>
                <a:ea typeface="Aptos Bold"/>
                <a:cs typeface="Aptos Bold"/>
                <a:sym typeface="Aptos Bold"/>
              </a:rPr>
              <a:t>Ejemplo: </a:t>
            </a:r>
            <a:r>
              <a:rPr lang="en-US" sz="1514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módulo de técnicas didácticas con evidencias.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605004" y="8366760"/>
            <a:ext cx="1988820" cy="301752"/>
            <a:chOff x="0" y="0"/>
            <a:chExt cx="265176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1760" cy="402336"/>
            </a:xfrm>
            <a:custGeom>
              <a:avLst/>
              <a:gdLst/>
              <a:ahLst/>
              <a:cxnLst/>
              <a:rect r="r" b="b" t="t" l="l"/>
              <a:pathLst>
                <a:path h="40233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6517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u="sng">
                  <a:solidFill>
                    <a:srgbClr val="10B981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www.instructure.com/canvas"/>
                </a:rPr>
                <a:t>Abrir recurso ↗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43B53"/>
            </a:solidFill>
            <a:ln w="19050" cap="sq">
              <a:solidFill>
                <a:srgbClr val="243B5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didácticos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Medios para investigación y apoyo con 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4873" y="2297620"/>
            <a:ext cx="5225415" cy="2825115"/>
            <a:chOff x="0" y="0"/>
            <a:chExt cx="6967220" cy="3766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6132" y="2441448"/>
            <a:ext cx="4869180" cy="384048"/>
            <a:chOff x="0" y="0"/>
            <a:chExt cx="649224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📚 Zotero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6256" y="292163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Gestor bibliográfico para guardar, organizar y citar fuentes.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crear referencias APA del catálogo.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623560" y="4663440"/>
            <a:ext cx="301752" cy="246888"/>
            <a:chOff x="0" y="0"/>
            <a:chExt cx="402336" cy="329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  <a:hlinkClick r:id="rId5" tooltip="https://www.zotero.org/"/>
                </a:rPr>
                <a:t>↗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77012" y="2297620"/>
            <a:ext cx="5225415" cy="2825115"/>
            <a:chOff x="0" y="0"/>
            <a:chExt cx="6967220" cy="3766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748272" y="2441448"/>
            <a:ext cx="4869180" cy="384048"/>
            <a:chOff x="0" y="0"/>
            <a:chExt cx="649224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📖 Mendeley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48396" y="292163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Gestor de referencias y lector PDF.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etiquetar artículos por tema y metodología.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15700" y="4663440"/>
            <a:ext cx="301752" cy="246888"/>
            <a:chOff x="0" y="0"/>
            <a:chExt cx="402336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  <a:hlinkClick r:id="rId6" tooltip="https://www.mendeley.com/"/>
                </a:rPr>
                <a:t>↗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69152" y="2297620"/>
            <a:ext cx="5225415" cy="2825115"/>
            <a:chOff x="0" y="0"/>
            <a:chExt cx="6967220" cy="37668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40412" y="2441448"/>
            <a:ext cx="4869180" cy="384048"/>
            <a:chOff x="0" y="0"/>
            <a:chExt cx="6492240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🤖 ChatGPT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440536" y="292163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Asistente para idear, resumir y revisar borradores.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generar preguntas para debate y mejorar redacción.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007840" y="4663440"/>
            <a:ext cx="301752" cy="246888"/>
            <a:chOff x="0" y="0"/>
            <a:chExt cx="402336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  <a:hlinkClick r:id="rId7" tooltip="https://chatgpt.com/"/>
                </a:rPr>
                <a:t>↗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4873" y="5795200"/>
            <a:ext cx="5225415" cy="2825115"/>
            <a:chOff x="0" y="0"/>
            <a:chExt cx="6967220" cy="37668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56132" y="5939028"/>
            <a:ext cx="4869180" cy="384048"/>
            <a:chOff x="0" y="0"/>
            <a:chExt cx="649224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🔎 Elicit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56256" y="641921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Búsqueda y síntesis de literatura científica.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localizar papers sobre e-learning e investigación.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623560" y="8161020"/>
            <a:ext cx="301752" cy="246888"/>
            <a:chOff x="0" y="0"/>
            <a:chExt cx="402336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  <a:hlinkClick r:id="rId8" tooltip="https://elicit.com/"/>
                </a:rPr>
                <a:t>↗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77012" y="5795200"/>
            <a:ext cx="5225415" cy="2825115"/>
            <a:chOff x="0" y="0"/>
            <a:chExt cx="6967220" cy="37668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67220" cy="3766820"/>
            </a:xfrm>
            <a:custGeom>
              <a:avLst/>
              <a:gdLst/>
              <a:ahLst/>
              <a:cxnLst/>
              <a:rect r="r" b="b" t="t" l="l"/>
              <a:pathLst>
                <a:path h="3766820" w="696722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820281" y="0"/>
                  </a:lnTo>
                  <a:cubicBezTo>
                    <a:pt x="6901435" y="0"/>
                    <a:pt x="6967220" y="65786"/>
                    <a:pt x="6967220" y="146939"/>
                  </a:cubicBezTo>
                  <a:lnTo>
                    <a:pt x="6967220" y="3619881"/>
                  </a:lnTo>
                  <a:cubicBezTo>
                    <a:pt x="6967220" y="3701034"/>
                    <a:pt x="6901435" y="3766820"/>
                    <a:pt x="6820281" y="3766820"/>
                  </a:cubicBezTo>
                  <a:lnTo>
                    <a:pt x="146939" y="3766820"/>
                  </a:lnTo>
                  <a:cubicBezTo>
                    <a:pt x="65786" y="3766820"/>
                    <a:pt x="0" y="3701034"/>
                    <a:pt x="0" y="361988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748272" y="5939028"/>
            <a:ext cx="4869180" cy="384048"/>
            <a:chOff x="0" y="0"/>
            <a:chExt cx="649224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🧬 Scite.ai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748396" y="6419212"/>
            <a:ext cx="4868923" cy="1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Análisis de citas: apoya, menciona o contradice.</a:t>
            </a:r>
          </a:p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Ej.: revisar cómo se usa un artículo clave.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315700" y="8161020"/>
            <a:ext cx="301752" cy="246888"/>
            <a:chOff x="0" y="0"/>
            <a:chExt cx="402336" cy="3291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0233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u="sng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  <a:hlinkClick r:id="rId9" tooltip="https://scite.ai/"/>
                </a:rPr>
                <a:t>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Presentación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Justificación e-learning y competencias del tutor investigador virtual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4873" y="2215324"/>
            <a:ext cx="7831455" cy="1590675"/>
            <a:chOff x="0" y="0"/>
            <a:chExt cx="10441940" cy="2120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41940" cy="2120900"/>
            </a:xfrm>
            <a:custGeom>
              <a:avLst/>
              <a:gdLst/>
              <a:ahLst/>
              <a:cxnLst/>
              <a:rect r="r" b="b" t="t" l="l"/>
              <a:pathLst>
                <a:path h="2120900" w="104419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294366" y="0"/>
                  </a:lnTo>
                  <a:cubicBezTo>
                    <a:pt x="10375900" y="0"/>
                    <a:pt x="10441940" y="66040"/>
                    <a:pt x="10441940" y="147574"/>
                  </a:cubicBezTo>
                  <a:lnTo>
                    <a:pt x="10441940" y="1973326"/>
                  </a:lnTo>
                  <a:cubicBezTo>
                    <a:pt x="10441940" y="2054860"/>
                    <a:pt x="10375900" y="2120900"/>
                    <a:pt x="10294366" y="2120900"/>
                  </a:cubicBezTo>
                  <a:lnTo>
                    <a:pt x="147574" y="2120900"/>
                  </a:lnTo>
                  <a:cubicBezTo>
                    <a:pt x="66040" y="2120900"/>
                    <a:pt x="0" y="2054860"/>
                    <a:pt x="0" y="1973326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6132" y="2359152"/>
            <a:ext cx="7475220" cy="384048"/>
            <a:chOff x="0" y="0"/>
            <a:chExt cx="996696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66960" cy="512064"/>
            </a:xfrm>
            <a:custGeom>
              <a:avLst/>
              <a:gdLst/>
              <a:ahLst/>
              <a:cxnLst/>
              <a:rect r="r" b="b" t="t" l="l"/>
              <a:pathLst>
                <a:path h="512064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9669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🎯 ¿Por qué estas técnicas?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6256" y="2839336"/>
            <a:ext cx="7474963" cy="47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Porque guían el pensamiento investigativo: problematizar, organizar conceptos, revisar fuentes y comunicar hallazgos.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4873" y="4341304"/>
            <a:ext cx="7831455" cy="1590675"/>
            <a:chOff x="0" y="0"/>
            <a:chExt cx="10441940" cy="2120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1940" cy="2120900"/>
            </a:xfrm>
            <a:custGeom>
              <a:avLst/>
              <a:gdLst/>
              <a:ahLst/>
              <a:cxnLst/>
              <a:rect r="r" b="b" t="t" l="l"/>
              <a:pathLst>
                <a:path h="2120900" w="104419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294366" y="0"/>
                  </a:lnTo>
                  <a:cubicBezTo>
                    <a:pt x="10375900" y="0"/>
                    <a:pt x="10441940" y="66040"/>
                    <a:pt x="10441940" y="147574"/>
                  </a:cubicBezTo>
                  <a:lnTo>
                    <a:pt x="10441940" y="1973326"/>
                  </a:lnTo>
                  <a:cubicBezTo>
                    <a:pt x="10441940" y="2054860"/>
                    <a:pt x="10375900" y="2120900"/>
                    <a:pt x="10294366" y="2120900"/>
                  </a:cubicBezTo>
                  <a:lnTo>
                    <a:pt x="147574" y="2120900"/>
                  </a:lnTo>
                  <a:cubicBezTo>
                    <a:pt x="66040" y="2120900"/>
                    <a:pt x="0" y="2054860"/>
                    <a:pt x="0" y="1973326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56132" y="4485132"/>
            <a:ext cx="7475220" cy="384048"/>
            <a:chOff x="0" y="0"/>
            <a:chExt cx="9966960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66960" cy="512064"/>
            </a:xfrm>
            <a:custGeom>
              <a:avLst/>
              <a:gdLst/>
              <a:ahLst/>
              <a:cxnLst/>
              <a:rect r="r" b="b" t="t" l="l"/>
              <a:pathLst>
                <a:path h="512064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9669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💻 ¿Por qué estos medios?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56256" y="4965316"/>
            <a:ext cx="7474963" cy="47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Porque permiten interacción, co-creación, evaluación inmediata, gestión de cursos y acceso a recursos académicos.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4873" y="6467284"/>
            <a:ext cx="7831455" cy="1590675"/>
            <a:chOff x="0" y="0"/>
            <a:chExt cx="10441940" cy="2120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41940" cy="2120900"/>
            </a:xfrm>
            <a:custGeom>
              <a:avLst/>
              <a:gdLst/>
              <a:ahLst/>
              <a:cxnLst/>
              <a:rect r="r" b="b" t="t" l="l"/>
              <a:pathLst>
                <a:path h="2120900" w="104419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294366" y="0"/>
                  </a:lnTo>
                  <a:cubicBezTo>
                    <a:pt x="10375900" y="0"/>
                    <a:pt x="10441940" y="66040"/>
                    <a:pt x="10441940" y="147574"/>
                  </a:cubicBezTo>
                  <a:lnTo>
                    <a:pt x="10441940" y="1973326"/>
                  </a:lnTo>
                  <a:cubicBezTo>
                    <a:pt x="10441940" y="2054860"/>
                    <a:pt x="10375900" y="2120900"/>
                    <a:pt x="10294366" y="2120900"/>
                  </a:cubicBezTo>
                  <a:lnTo>
                    <a:pt x="147574" y="2120900"/>
                  </a:lnTo>
                  <a:cubicBezTo>
                    <a:pt x="66040" y="2120900"/>
                    <a:pt x="0" y="2054860"/>
                    <a:pt x="0" y="1973326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56132" y="6611112"/>
            <a:ext cx="7475220" cy="384048"/>
            <a:chOff x="0" y="0"/>
            <a:chExt cx="9966960" cy="512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66960" cy="512064"/>
            </a:xfrm>
            <a:custGeom>
              <a:avLst/>
              <a:gdLst/>
              <a:ahLst/>
              <a:cxnLst/>
              <a:rect r="r" b="b" t="t" l="l"/>
              <a:pathLst>
                <a:path h="512064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9669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🌐 Valor para entornos virtuales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56256" y="7091296"/>
            <a:ext cx="7474963" cy="47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>
                <a:solidFill>
                  <a:srgbClr val="243B53"/>
                </a:solidFill>
                <a:latin typeface="Aptos"/>
                <a:ea typeface="Aptos"/>
                <a:cs typeface="Aptos"/>
                <a:sym typeface="Aptos"/>
              </a:rPr>
              <a:t>Mejoran participación, autonomía, seguimiento, colaboración y retroalimentación en modalidad e-learning.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601200" y="2221992"/>
            <a:ext cx="7132320" cy="411480"/>
            <a:chOff x="0" y="0"/>
            <a:chExt cx="950976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5097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Competencias del tutor investigador virtual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91675" y="2843403"/>
            <a:ext cx="7082790" cy="1006602"/>
            <a:chOff x="0" y="0"/>
            <a:chExt cx="9443720" cy="13421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43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9443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9294622" y="0"/>
                  </a:lnTo>
                  <a:cubicBezTo>
                    <a:pt x="9376918" y="0"/>
                    <a:pt x="9443720" y="66802"/>
                    <a:pt x="9443720" y="149098"/>
                  </a:cubicBezTo>
                  <a:lnTo>
                    <a:pt x="9443720" y="1193038"/>
                  </a:lnTo>
                  <a:cubicBezTo>
                    <a:pt x="9443720" y="1275334"/>
                    <a:pt x="9376918" y="1342136"/>
                    <a:pt x="9294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848088" y="3044952"/>
            <a:ext cx="2880360" cy="246888"/>
            <a:chOff x="0" y="0"/>
            <a:chExt cx="3840480" cy="3291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40480" cy="329184"/>
            </a:xfrm>
            <a:custGeom>
              <a:avLst/>
              <a:gdLst/>
              <a:ahLst/>
              <a:cxnLst/>
              <a:rect r="r" b="b" t="t" l="l"/>
              <a:pathLst>
                <a:path h="3291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8404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Orientación metodológica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755880" y="2976372"/>
            <a:ext cx="3634740" cy="384048"/>
            <a:chOff x="0" y="0"/>
            <a:chExt cx="4846320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46320" cy="512064"/>
            </a:xfrm>
            <a:custGeom>
              <a:avLst/>
              <a:gdLst/>
              <a:ahLst/>
              <a:cxnLst/>
              <a:rect r="r" b="b" t="t" l="l"/>
              <a:pathLst>
                <a:path h="51206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846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4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Ayuda a formular problemas, objetivos y preguntas.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91675" y="4146423"/>
            <a:ext cx="7082790" cy="1006602"/>
            <a:chOff x="0" y="0"/>
            <a:chExt cx="9443720" cy="13421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443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9443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9294622" y="0"/>
                  </a:lnTo>
                  <a:cubicBezTo>
                    <a:pt x="9376918" y="0"/>
                    <a:pt x="9443720" y="66802"/>
                    <a:pt x="9443720" y="149098"/>
                  </a:cubicBezTo>
                  <a:lnTo>
                    <a:pt x="9443720" y="1193038"/>
                  </a:lnTo>
                  <a:cubicBezTo>
                    <a:pt x="9443720" y="1275334"/>
                    <a:pt x="9376918" y="1342136"/>
                    <a:pt x="9294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ECFDF5"/>
            </a:solidFill>
            <a:ln w="1905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848088" y="4347972"/>
            <a:ext cx="2880360" cy="246888"/>
            <a:chOff x="0" y="0"/>
            <a:chExt cx="3840480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40480" cy="329184"/>
            </a:xfrm>
            <a:custGeom>
              <a:avLst/>
              <a:gdLst/>
              <a:ahLst/>
              <a:cxnLst/>
              <a:rect r="r" b="b" t="t" l="l"/>
              <a:pathLst>
                <a:path h="3291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8404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Mediación digital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55880" y="4279392"/>
            <a:ext cx="3634740" cy="384048"/>
            <a:chOff x="0" y="0"/>
            <a:chExt cx="484632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46320" cy="512064"/>
            </a:xfrm>
            <a:custGeom>
              <a:avLst/>
              <a:gdLst/>
              <a:ahLst/>
              <a:cxnLst/>
              <a:rect r="r" b="b" t="t" l="l"/>
              <a:pathLst>
                <a:path h="51206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846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4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Selecciona la herramienta adecuada para cada actividad.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91675" y="5449443"/>
            <a:ext cx="7082790" cy="1006602"/>
            <a:chOff x="0" y="0"/>
            <a:chExt cx="9443720" cy="13421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443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9443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9294622" y="0"/>
                  </a:lnTo>
                  <a:cubicBezTo>
                    <a:pt x="9376918" y="0"/>
                    <a:pt x="9443720" y="66802"/>
                    <a:pt x="9443720" y="149098"/>
                  </a:cubicBezTo>
                  <a:lnTo>
                    <a:pt x="9443720" y="1193038"/>
                  </a:lnTo>
                  <a:cubicBezTo>
                    <a:pt x="9443720" y="1275334"/>
                    <a:pt x="9376918" y="1342136"/>
                    <a:pt x="9294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7ED"/>
            </a:solidFill>
            <a:ln w="1905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848088" y="5650992"/>
            <a:ext cx="2880360" cy="246888"/>
            <a:chOff x="0" y="0"/>
            <a:chExt cx="3840480" cy="3291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40480" cy="329184"/>
            </a:xfrm>
            <a:custGeom>
              <a:avLst/>
              <a:gdLst/>
              <a:ahLst/>
              <a:cxnLst/>
              <a:rect r="r" b="b" t="t" l="l"/>
              <a:pathLst>
                <a:path h="3291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8404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Retroalimentación formativa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755880" y="5582412"/>
            <a:ext cx="3634740" cy="384048"/>
            <a:chOff x="0" y="0"/>
            <a:chExt cx="4846320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46320" cy="512064"/>
            </a:xfrm>
            <a:custGeom>
              <a:avLst/>
              <a:gdLst/>
              <a:ahLst/>
              <a:cxnLst/>
              <a:rect r="r" b="b" t="t" l="l"/>
              <a:pathLst>
                <a:path h="51206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846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4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Evalúa avances con criterios claros y oportunos.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1675" y="6752463"/>
            <a:ext cx="7082790" cy="1006602"/>
            <a:chOff x="0" y="0"/>
            <a:chExt cx="9443720" cy="13421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437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94437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9294622" y="0"/>
                  </a:lnTo>
                  <a:cubicBezTo>
                    <a:pt x="9376918" y="0"/>
                    <a:pt x="9443720" y="66802"/>
                    <a:pt x="9443720" y="149098"/>
                  </a:cubicBezTo>
                  <a:lnTo>
                    <a:pt x="9443720" y="1193038"/>
                  </a:lnTo>
                  <a:cubicBezTo>
                    <a:pt x="9443720" y="1275334"/>
                    <a:pt x="9376918" y="1342136"/>
                    <a:pt x="92946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848088" y="6954012"/>
            <a:ext cx="2880360" cy="246888"/>
            <a:chOff x="0" y="0"/>
            <a:chExt cx="3840480" cy="3291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40480" cy="329184"/>
            </a:xfrm>
            <a:custGeom>
              <a:avLst/>
              <a:gdLst/>
              <a:ahLst/>
              <a:cxnLst/>
              <a:rect r="r" b="b" t="t" l="l"/>
              <a:pathLst>
                <a:path h="3291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8404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Ética y uso responsable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755880" y="6885432"/>
            <a:ext cx="3634740" cy="384048"/>
            <a:chOff x="0" y="0"/>
            <a:chExt cx="4846320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46320" cy="512064"/>
            </a:xfrm>
            <a:custGeom>
              <a:avLst/>
              <a:gdLst/>
              <a:ahLst/>
              <a:cxnLst/>
              <a:rect r="r" b="b" t="t" l="l"/>
              <a:pathLst>
                <a:path h="51206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846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4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Promueve citas, integridad académica y uso crítico de IA.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06602"/>
            <a:chOff x="0" y="0"/>
            <a:chExt cx="24408790" cy="1342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243B53"/>
            </a:solidFill>
            <a:ln w="19050" cap="sq">
              <a:solidFill>
                <a:srgbClr val="243B5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" y="260604"/>
            <a:ext cx="3703320" cy="384048"/>
            <a:chOff x="0" y="0"/>
            <a:chExt cx="49377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377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Guía final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220" y="1275588"/>
            <a:ext cx="13990320" cy="603504"/>
            <a:chOff x="0" y="0"/>
            <a:chExt cx="1865376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53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65376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Cierre: cómo presentar el catálogo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41980" y="260604"/>
            <a:ext cx="960120" cy="411480"/>
            <a:chOff x="0" y="0"/>
            <a:chExt cx="128016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80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u="sng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  <a:hlinkClick r:id="rId4" action="ppaction://hlinksldjump"/>
                </a:rPr>
                <a:t>Inicio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5295" y="168783"/>
            <a:ext cx="1280922" cy="595122"/>
            <a:chOff x="0" y="0"/>
            <a:chExt cx="17078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7896" cy="793496"/>
            </a:xfrm>
            <a:custGeom>
              <a:avLst/>
              <a:gdLst/>
              <a:ahLst/>
              <a:cxnLst/>
              <a:rect r="r" b="b" t="t" l="l"/>
              <a:pathLst>
                <a:path h="793496" w="17078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594485" y="0"/>
                  </a:lnTo>
                  <a:cubicBezTo>
                    <a:pt x="1657096" y="0"/>
                    <a:pt x="1707896" y="50800"/>
                    <a:pt x="1707896" y="113411"/>
                  </a:cubicBezTo>
                  <a:lnTo>
                    <a:pt x="1707896" y="680085"/>
                  </a:lnTo>
                  <a:cubicBezTo>
                    <a:pt x="1707896" y="742696"/>
                    <a:pt x="1657096" y="793496"/>
                    <a:pt x="1594485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7076420" y="246888"/>
            <a:ext cx="617220" cy="384048"/>
            <a:chOff x="0" y="0"/>
            <a:chExt cx="82296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229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15/15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2015" y="2185035"/>
            <a:ext cx="7700010" cy="6534150"/>
            <a:chOff x="0" y="0"/>
            <a:chExt cx="10266680" cy="8712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66680" cy="8712200"/>
            </a:xfrm>
            <a:custGeom>
              <a:avLst/>
              <a:gdLst/>
              <a:ahLst/>
              <a:cxnLst/>
              <a:rect r="r" b="b" t="t" l="l"/>
              <a:pathLst>
                <a:path h="8712200" w="1026668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083292" y="0"/>
                  </a:lnTo>
                  <a:cubicBezTo>
                    <a:pt x="10184638" y="0"/>
                    <a:pt x="10266680" y="82169"/>
                    <a:pt x="10266680" y="183388"/>
                  </a:cubicBezTo>
                  <a:lnTo>
                    <a:pt x="10266680" y="8528812"/>
                  </a:lnTo>
                  <a:cubicBezTo>
                    <a:pt x="10266680" y="8630158"/>
                    <a:pt x="10184511" y="8712200"/>
                    <a:pt x="10083292" y="8712200"/>
                  </a:cubicBezTo>
                  <a:lnTo>
                    <a:pt x="183388" y="8712200"/>
                  </a:lnTo>
                  <a:cubicBezTo>
                    <a:pt x="82169" y="8712200"/>
                    <a:pt x="0" y="8630031"/>
                    <a:pt x="0" y="85288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2606040"/>
            <a:ext cx="6720840" cy="411480"/>
            <a:chOff x="0" y="0"/>
            <a:chExt cx="89611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61120" cy="548640"/>
            </a:xfrm>
            <a:custGeom>
              <a:avLst/>
              <a:gdLst/>
              <a:ahLst/>
              <a:cxnLst/>
              <a:rect r="r" b="b" t="t" l="l"/>
              <a:pathLst>
                <a:path h="5486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55" r="0" b="-2682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9611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Guion breve de exposición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3291840"/>
            <a:ext cx="6720840" cy="301752"/>
            <a:chOff x="0" y="0"/>
            <a:chExt cx="8961120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96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✓ Presentar el nombre del catálogo e integrantes.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3020" y="3936492"/>
            <a:ext cx="6720840" cy="301752"/>
            <a:chOff x="0" y="0"/>
            <a:chExt cx="8961120" cy="4023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896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✓ Explicar la navegación por categorías.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3020" y="4581144"/>
            <a:ext cx="6720840" cy="301752"/>
            <a:chOff x="0" y="0"/>
            <a:chExt cx="896112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96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✓ Mostrar 2 técnicas y 2 medios como ejemplo.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03020" y="5225796"/>
            <a:ext cx="6720840" cy="301752"/>
            <a:chOff x="0" y="0"/>
            <a:chExt cx="8961120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96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✓ Justificar su utilidad para investigación científica en e-learning.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3020" y="5870448"/>
            <a:ext cx="6720840" cy="301752"/>
            <a:chOff x="0" y="0"/>
            <a:chExt cx="8961120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96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</a:rPr>
                <a:t>✓ Cerrar con competencias del tutor investigador virtual.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85935" y="2185035"/>
            <a:ext cx="8042910" cy="6534150"/>
            <a:chOff x="0" y="0"/>
            <a:chExt cx="10723880" cy="8712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3880" cy="8712200"/>
            </a:xfrm>
            <a:custGeom>
              <a:avLst/>
              <a:gdLst/>
              <a:ahLst/>
              <a:cxnLst/>
              <a:rect r="r" b="b" t="t" l="l"/>
              <a:pathLst>
                <a:path h="8712200" w="1072388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540492" y="0"/>
                  </a:lnTo>
                  <a:cubicBezTo>
                    <a:pt x="10641838" y="0"/>
                    <a:pt x="10723880" y="82169"/>
                    <a:pt x="10723880" y="183388"/>
                  </a:cubicBezTo>
                  <a:lnTo>
                    <a:pt x="10723880" y="8528812"/>
                  </a:lnTo>
                  <a:cubicBezTo>
                    <a:pt x="10723880" y="8630158"/>
                    <a:pt x="10641711" y="8712200"/>
                    <a:pt x="10540492" y="8712200"/>
                  </a:cubicBezTo>
                  <a:lnTo>
                    <a:pt x="183388" y="8712200"/>
                  </a:lnTo>
                  <a:cubicBezTo>
                    <a:pt x="82169" y="8712200"/>
                    <a:pt x="0" y="8630031"/>
                    <a:pt x="0" y="8528812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06940" y="2606040"/>
            <a:ext cx="7200900" cy="411480"/>
            <a:chOff x="0" y="0"/>
            <a:chExt cx="96012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0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960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43B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Referencias y recursos de acceso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06940" y="3264408"/>
            <a:ext cx="6995160" cy="246888"/>
            <a:chOff x="0" y="0"/>
            <a:chExt cx="9326880" cy="3291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u="sng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  <a:hlinkClick r:id="rId5" tooltip="https://www.canva.com/"/>
                </a:rPr>
                <a:t>• Canva. Herramienta de diseño y presentaciones.  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06940" y="3840480"/>
            <a:ext cx="6995160" cy="246888"/>
            <a:chOff x="0" y="0"/>
            <a:chExt cx="932688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u="sng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  <a:hlinkClick r:id="rId6" tooltip="https://genially.com/es/"/>
                </a:rPr>
                <a:t>• Genially. Contenido interactivo y animado.  ↗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06940" y="4416552"/>
            <a:ext cx="6995160" cy="246888"/>
            <a:chOff x="0" y="0"/>
            <a:chExt cx="9326880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u="sng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  <a:hlinkClick r:id="rId7" tooltip="https://moodle.org/"/>
                </a:rPr>
                <a:t>• Moodle. Plataforma LMS de código abierto.  ↗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06940" y="4992624"/>
            <a:ext cx="6995160" cy="246888"/>
            <a:chOff x="0" y="0"/>
            <a:chExt cx="9326880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u="sng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  <a:hlinkClick r:id="rId8" tooltip="https://www.zotero.org/"/>
                </a:rPr>
                <a:t>• Zotero. Gestor de referencias bibliográficas.  ↗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06940" y="5568696"/>
            <a:ext cx="6995160" cy="246888"/>
            <a:chOff x="0" y="0"/>
            <a:chExt cx="9326880" cy="3291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26880" cy="329184"/>
            </a:xfrm>
            <a:custGeom>
              <a:avLst/>
              <a:gdLst/>
              <a:ahLst/>
              <a:cxnLst/>
              <a:rect r="r" b="b" t="t" l="l"/>
              <a:pathLst>
                <a:path h="32918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326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u="sng">
                  <a:solidFill>
                    <a:srgbClr val="243B53"/>
                  </a:solidFill>
                  <a:latin typeface="Aptos"/>
                  <a:ea typeface="Aptos"/>
                  <a:cs typeface="Aptos"/>
                  <a:sym typeface="Aptos"/>
                  <a:hlinkClick r:id="rId9" tooltip="https://support.google.com/jamboard?hl=es"/>
                </a:rPr>
                <a:t>• Google. Información de cierre de Jamboard.  ↗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806940" y="7612380"/>
            <a:ext cx="7132320" cy="466344"/>
            <a:chOff x="0" y="0"/>
            <a:chExt cx="9509760" cy="621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09760" cy="621792"/>
            </a:xfrm>
            <a:custGeom>
              <a:avLst/>
              <a:gdLst/>
              <a:ahLst/>
              <a:cxnLst/>
              <a:rect r="r" b="b" t="t" l="l"/>
              <a:pathLst>
                <a:path h="6217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006" r="0" b="-24800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95097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Nota para Canva/Genially: subir este PPTX, activar enlaces internos/externos y pegar el enlace publicado en la carátula.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17220" y="9806940"/>
            <a:ext cx="10698480" cy="301752"/>
            <a:chOff x="0" y="0"/>
            <a:chExt cx="14264640" cy="4023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264639" cy="402336"/>
            </a:xfrm>
            <a:custGeom>
              <a:avLst/>
              <a:gdLst/>
              <a:ahLst/>
              <a:cxnLst/>
              <a:rect r="r" b="b" t="t" l="l"/>
              <a:pathLst>
                <a:path h="4023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833" r="0" b="-64083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426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Catálogo interactivo de técnicas y medios didácticos para la enseñanza de la investigación científica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470380" y="9806940"/>
            <a:ext cx="3223260" cy="301752"/>
            <a:chOff x="0" y="0"/>
            <a:chExt cx="4297680" cy="4023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UCV Virtual | Examen Parcial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DAHKXDuPXuU</dc:identifier>
  <dcterms:modified xsi:type="dcterms:W3CDTF">2011-08-01T06:04:30Z</dcterms:modified>
  <cp:revision>1</cp:revision>
  <dc:title>Catalogo_Interactivo_InvestigaLab_Virtual.pptx</dc:title>
</cp:coreProperties>
</file>